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exend"/>
              </a:rPr>
              <a:t>Northgate</a:t>
            </a:r>
            <a:r>
              <a:rPr sz="1400" b="1" i="0">
                <a:solidFill>
                  <a:srgbClr val="05AFF2"/>
                </a:solidFill>
                <a:latin typeface="Lexend"/>
              </a:rPr>
              <a:t>.</a:t>
            </a:r>
            <a:r>
              <a:rPr sz="868" b="1" i="0">
                <a:solidFill>
                  <a:srgbClr val="B9C3E0"/>
                </a:solidFill>
                <a:latin typeface="Source Sans 3"/>
              </a:rPr>
              <a:t>  CONSULTING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2695" y="457200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B9C3E0"/>
                </a:solidFill>
                <a:latin typeface="Source Sans 3"/>
              </a:rPr>
              <a:t>Strictly Private &amp;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5AFF2"/>
                </a:solidFill>
                <a:latin typeface="Source Sans 3"/>
              </a:rPr>
              <a:t>B2B &amp; B2B2X — CONTRIBUTION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Lexend"/>
              </a:rPr>
              <a:t>Seven Engagements.
One Operating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9476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B9C3E0"/>
                </a:solidFill>
                <a:latin typeface="Source Sans 3"/>
              </a:rPr>
              <a:t>How business strategy, partner ecosystems and technical architecture were led — not supported — across seven B2B and B2B2X programs for the world's leading telecom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74920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30" b="1" i="0">
                <a:solidFill>
                  <a:srgbClr val="05AFF2"/>
                </a:solidFill>
                <a:latin typeface="Source Sans 3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8523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Source Sans 3"/>
              </a:rPr>
              <a:t>Solution 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074920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30" b="1" i="0">
                <a:solidFill>
                  <a:srgbClr val="05AFF2"/>
                </a:solidFill>
                <a:latin typeface="Source Sans 3"/>
              </a:rPr>
              <a:t>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28523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Source Sans 3"/>
              </a:rPr>
              <a:t>MTN · STC · Airtel Africa · Tecnotree B2B2X · Dubai Sports Council · Claro Group · MTN B2B2X 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5074920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30" b="1" i="0">
                <a:solidFill>
                  <a:srgbClr val="05AFF2"/>
                </a:solidFill>
                <a:latin typeface="Source Sans 3"/>
              </a:rP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28523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Source Sans 3"/>
              </a:rPr>
              <a:t>Go-to-market · Partner ecosystems · BSS transformation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263640"/>
            <a:ext cx="11185855" cy="9144"/>
          </a:xfrm>
          <a:prstGeom prst="rect">
            <a:avLst/>
          </a:prstGeom>
          <a:solidFill>
            <a:srgbClr val="1B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B9C3E0"/>
                </a:solidFill>
                <a:latin typeface="Source Sans 3"/>
              </a:rPr>
              <a:t>Prepared for Management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5575" y="641908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B9C3E0"/>
                </a:solidFill>
                <a:latin typeface="Source Sans 3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3D5AD9"/>
                </a:solidFill>
                <a:latin typeface="Source Sans 3"/>
              </a:rPr>
              <a:t>CASE STUDY — B2B2X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0C1945"/>
                </a:solidFill>
                <a:latin typeface="Lexend"/>
              </a:rPr>
              <a:t>MTN Group &amp; Nigeria: Aligning Five C-Suite Functions Across B2C and B2B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334155"/>
                </a:solidFill>
                <a:latin typeface="Source Sans 3"/>
              </a:rPr>
              <a:t>Five C-suite stakeholder groups, two customer segments, one target operating model — reconciled into a single baselined requirement set that engineering built against.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2743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47088"/>
            <a:ext cx="11039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Source Sans 3"/>
              </a:rPr>
              <a:t>MTN Group's digital transformation program, delivered by Tecnotree. I led the B2C &amp; B2B engagement track for Nigeria — MTN's largest operation — working across the MTN Group and Nigeria country teams.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95728"/>
            <a:ext cx="3594506" cy="32004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C1945"/>
                </a:solidFill>
                <a:latin typeface="Source Sans 3"/>
              </a:rPr>
              <a:t>CBO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Business process &amp; journeys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59450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Full-lifecycle workshops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— contract, product, lead/prospect, conversion, fulfilment, billing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Journeys redefined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and aligned to market standards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BRDs authored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with UAT acceptance scenarios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8594" y="2395728"/>
            <a:ext cx="3594506" cy="3200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8594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3D5AD9"/>
                </a:solidFill>
                <a:latin typeface="Source Sans 3"/>
              </a:rPr>
              <a:t>CTIO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8594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Architecture &amp;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8594" y="2926080"/>
            <a:ext cx="359450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Architecture mapped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end to end; retain / replace / newly-enable scoped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Tecnotree ↔ MTN integration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defined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SRS authored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— baselined &amp; signed off with MTN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268" y="2395728"/>
            <a:ext cx="3594506" cy="32004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4268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5AFF2"/>
                </a:solidFill>
                <a:latin typeface="Source Sans 3"/>
              </a:rPr>
              <a:t>CMO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4268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Product &amp; commercial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4268" y="2926080"/>
            <a:ext cx="359450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Product workshops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on structure &amp; fulfilment constructs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Catalog rationalization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scoped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Configuration defined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in the Tecnotree catalog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13632"/>
            <a:ext cx="5492343" cy="3200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05072"/>
            <a:ext cx="54923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3D5AD9"/>
                </a:solidFill>
                <a:latin typeface="Source Sans 3"/>
              </a:rPr>
              <a:t>CDO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15384"/>
            <a:ext cx="54923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Digital identity &amp; customer 360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43984"/>
            <a:ext cx="5492343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Enterprise journeys digitalized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end to end, in minimal steps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One digital identity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per enterprise customer, across every product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That identity became the spine of a unified 360 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3913632"/>
            <a:ext cx="5492343" cy="32004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6431" y="4005072"/>
            <a:ext cx="54923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C1945"/>
                </a:solidFill>
                <a:latin typeface="Source Sans 3"/>
              </a:rPr>
              <a:t>COO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6431" y="4215384"/>
            <a:ext cx="54923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Operational reporting &amp;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6431" y="4443984"/>
            <a:ext cx="5492343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Reporting baselined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across leads, prospects, customers, products, billing, quotations, contacts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Gave leadership one instrumentation layer to run the business against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38928"/>
            <a:ext cx="111858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138928"/>
            <a:ext cx="41148" cy="1170432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239512"/>
            <a:ext cx="10820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3D5AD9"/>
                </a:solidFill>
                <a:latin typeface="Source Sans 3"/>
              </a:rPr>
              <a:t>SO WHAT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449824"/>
            <a:ext cx="10801807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0C1945"/>
                </a:solidFill>
                <a:latin typeface="Source Sans 3"/>
              </a:rPr>
              <a:t>Five C-suite functions, two customer segments, a Group-to-country structure held together without scope drift — the span a business lead needs to run a multi-country B2B2X program.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C1945"/>
                </a:solidFill>
                <a:latin typeface="Lexend"/>
              </a:rPr>
              <a:t>Northgate</a:t>
            </a:r>
            <a:r>
              <a:rPr sz="1050" b="1" i="0">
                <a:solidFill>
                  <a:srgbClr val="05AFF2"/>
                </a:solidFill>
                <a:latin typeface="Lexend"/>
              </a:rPr>
              <a:t>.</a:t>
            </a:r>
            <a:r>
              <a:rPr sz="651" b="1" i="0">
                <a:solidFill>
                  <a:srgbClr val="8B97B5"/>
                </a:solidFill>
                <a:latin typeface="Source Sans 3"/>
              </a:rPr>
              <a:t>  CONSULTING</a:t>
            </a:r>
          </a:p>
        </p:txBody>
      </p:sp>
      <p:sp>
        <p:nvSpPr>
          <p:cNvPr id="33" name="Oval 32"/>
          <p:cNvSpPr/>
          <p:nvPr/>
        </p:nvSpPr>
        <p:spPr>
          <a:xfrm>
            <a:off x="11451031" y="6473952"/>
            <a:ext cx="237744" cy="237744"/>
          </a:xfrm>
          <a:prstGeom prst="ellipse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ource Sans 3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3D5AD9"/>
                </a:solidFill>
                <a:latin typeface="Source Sans 3"/>
              </a:rPr>
              <a:t>CASE STUDY — B2B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 i="0">
                <a:solidFill>
                  <a:srgbClr val="0C1945"/>
                </a:solidFill>
                <a:latin typeface="Lexend"/>
              </a:rPr>
              <a:t>STC Kuwait: Leading the B2B Track Across the CBO, CTIO and CMO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334155"/>
                </a:solidFill>
                <a:latin typeface="Source Sans 3"/>
              </a:rPr>
              <a:t>Three C-suite languages — commercial, technical, product — reconciled into one baselined requirement set that engineering built against.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2743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47088"/>
            <a:ext cx="11039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Source Sans 3"/>
              </a:rPr>
              <a:t>STC Kuwait's digital transformation program, delivered by Tecnotree. I led the B2B engagement track, working across the STC Group and Kuwait country teams.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95728"/>
            <a:ext cx="3594506" cy="32004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C1945"/>
                </a:solidFill>
                <a:latin typeface="Source Sans 3"/>
              </a:rPr>
              <a:t>CBO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Business process &amp; journeys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59450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Workshops run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on contract, product, lead/prospect, conversion, fulfilment, billing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Journeys simplified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and aligned to market standards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BRDs authored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with acceptance scenarios used to run UAT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8594" y="2395728"/>
            <a:ext cx="3594506" cy="3200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8594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3D5AD9"/>
                </a:solidFill>
                <a:latin typeface="Source Sans 3"/>
              </a:rPr>
              <a:t>CTIO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8594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Architecture &amp;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8594" y="2926080"/>
            <a:ext cx="359450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Architecture mapped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end to end; retain / replace / newly-enable scoped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Tecnotree ↔ STC integration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defined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SRS authored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— target architecture, As-Is/To-Be call flows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268" y="2395728"/>
            <a:ext cx="3594506" cy="32004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4268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5AFF2"/>
                </a:solidFill>
                <a:latin typeface="Source Sans 3"/>
              </a:rPr>
              <a:t>CMO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4268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Product &amp; commercial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4268" y="2926080"/>
            <a:ext cx="359450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Product structure workshops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on commercial &amp; fulfilment constructs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Catalog consolidation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scoped and rationalized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9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900" b="1">
                <a:solidFill>
                  <a:srgbClr val="0C1945"/>
                </a:solidFill>
                <a:latin typeface="Source Sans 3"/>
              </a:rPr>
              <a:t>Configuration defined</a:t>
            </a:r>
            <a:r>
              <a:rPr sz="900" b="0">
                <a:solidFill>
                  <a:srgbClr val="334155"/>
                </a:solidFill>
                <a:latin typeface="Source Sans 3"/>
              </a:rPr>
              <a:t> in the Tecnotree catalog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41648"/>
            <a:ext cx="11185855" cy="621792"/>
          </a:xfrm>
          <a:prstGeom prst="rect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133087"/>
            <a:ext cx="10856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30" b="1" i="0">
                <a:solidFill>
                  <a:srgbClr val="0C1945"/>
                </a:solidFill>
                <a:latin typeface="Source Sans 3"/>
              </a:rPr>
              <a:t>GOVERNANCE &amp; DELIVERY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334256"/>
            <a:ext cx="108566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ource Sans 3"/>
              </a:rPr>
              <a:t>Ran weekly steercos with STC leadership — milestones, bottlenecks, escalations. Validated every journey at SIT before handing to STC business users for UAT. Held the scope line across three concurrent CXO workstreams.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28032"/>
            <a:ext cx="359450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4901184"/>
            <a:ext cx="33384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60" b="1" i="0">
                <a:solidFill>
                  <a:srgbClr val="0C1945"/>
                </a:solidFill>
                <a:latin typeface="Source Sans 3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5084064"/>
            <a:ext cx="333847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334155"/>
                </a:solidFill>
                <a:latin typeface="Source Sans 3"/>
              </a:rPr>
              <a:t>Requirements baselined as the single source of truth for engineering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8594" y="4828032"/>
            <a:ext cx="359450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6610" y="4901184"/>
            <a:ext cx="33384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60" b="1" i="0">
                <a:solidFill>
                  <a:srgbClr val="0C1945"/>
                </a:solidFill>
                <a:latin typeface="Source Sans 3"/>
              </a:rPr>
              <a:t>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6610" y="5084064"/>
            <a:ext cx="333847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334155"/>
                </a:solidFill>
                <a:latin typeface="Source Sans 3"/>
              </a:rPr>
              <a:t>Digital BSS Suite (TMF Open API, microservices) live across chatbot, mobile, web &amp; assisted channels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4268" y="4828032"/>
            <a:ext cx="359450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2284" y="4901184"/>
            <a:ext cx="33384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60" b="1" i="0">
                <a:solidFill>
                  <a:srgbClr val="0C1945"/>
                </a:solidFill>
                <a:latin typeface="Source Sans 3"/>
              </a:rPr>
              <a:t>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2284" y="5084064"/>
            <a:ext cx="333847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334155"/>
                </a:solidFill>
                <a:latin typeface="Source Sans 3"/>
              </a:rPr>
              <a:t>Capability benchmarked to eTOM, aligned to TM Forum ODA &amp; TAM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77840"/>
            <a:ext cx="1118585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577840"/>
            <a:ext cx="41148" cy="749808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678424"/>
            <a:ext cx="10820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3D5AD9"/>
                </a:solidFill>
                <a:latin typeface="Source Sans 3"/>
              </a:rPr>
              <a:t>SO WHAT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888736"/>
            <a:ext cx="10801807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0C1945"/>
                </a:solidFill>
                <a:latin typeface="Source Sans 3"/>
              </a:rPr>
              <a:t>Running a B2B initiative for a telecom operator means being fluent enough in commercial process, technical architecture and product economics to be the translation layer between three C-suite functions and delivery.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C1945"/>
                </a:solidFill>
                <a:latin typeface="Lexend"/>
              </a:rPr>
              <a:t>Northgate</a:t>
            </a:r>
            <a:r>
              <a:rPr sz="1050" b="1" i="0">
                <a:solidFill>
                  <a:srgbClr val="05AFF2"/>
                </a:solidFill>
                <a:latin typeface="Lexend"/>
              </a:rPr>
              <a:t>.</a:t>
            </a:r>
            <a:r>
              <a:rPr sz="651" b="1" i="0">
                <a:solidFill>
                  <a:srgbClr val="8B97B5"/>
                </a:solidFill>
                <a:latin typeface="Source Sans 3"/>
              </a:rPr>
              <a:t>  CONSULTING</a:t>
            </a:r>
          </a:p>
        </p:txBody>
      </p:sp>
      <p:sp>
        <p:nvSpPr>
          <p:cNvPr id="37" name="Oval 36"/>
          <p:cNvSpPr/>
          <p:nvPr/>
        </p:nvSpPr>
        <p:spPr>
          <a:xfrm>
            <a:off x="11451031" y="6473952"/>
            <a:ext cx="237744" cy="237744"/>
          </a:xfrm>
          <a:prstGeom prst="ellipse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ource Sans 3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3D5AD9"/>
                </a:solidFill>
                <a:latin typeface="Source Sans 3"/>
              </a:rPr>
              <a:t>CASE STUDY — B2B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 i="0">
                <a:solidFill>
                  <a:srgbClr val="0C1945"/>
                </a:solidFill>
                <a:latin typeface="Lexend"/>
              </a:rPr>
              <a:t>Airtel Africa: Turning Airtel India's B2B Stack Into a Phased Blueprint for 14 Countries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334155"/>
                </a:solidFill>
                <a:latin typeface="Source Sans 3"/>
              </a:rPr>
              <a:t>Assessed what already worked in India, benchmarked it against TM Forum, and defined what Africa should reuse, optimize or build — then sequenced the rollout so it's fundable phase by phase.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47088"/>
            <a:ext cx="2743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47088"/>
            <a:ext cx="11039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Source Sans 3"/>
              </a:rPr>
              <a:t>Airtel Africa engaged IBM to optimize its B2B IT stack — enough to run today's enterprise business and launch new B2B offerings across Africa — by leveraging the proven Airtel India B2B model. I was responsible for assessing the India stack and creating the target blueprint for Africa.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95728"/>
            <a:ext cx="3594506" cy="32004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C1945"/>
                </a:solidFill>
                <a:latin typeface="Source Sans 3"/>
              </a:rPr>
              <a:t>REUSE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From Airtel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594506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8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80" b="1">
                <a:solidFill>
                  <a:srgbClr val="0C1945"/>
                </a:solidFill>
                <a:latin typeface="Source Sans 3"/>
              </a:rPr>
              <a:t>Technical enablers proven</a:t>
            </a:r>
            <a:r>
              <a:rPr sz="880" b="0">
                <a:solidFill>
                  <a:srgbClr val="334155"/>
                </a:solidFill>
                <a:latin typeface="Source Sans 3"/>
              </a:rPr>
              <a:t> in the Airtel India B2B stack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8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80" b="1">
                <a:solidFill>
                  <a:srgbClr val="0C1945"/>
                </a:solidFill>
                <a:latin typeface="Source Sans 3"/>
              </a:rPr>
              <a:t>Benchmarked against TM Forum</a:t>
            </a:r>
            <a:r>
              <a:rPr sz="880" b="0">
                <a:solidFill>
                  <a:srgbClr val="334155"/>
                </a:solidFill>
                <a:latin typeface="Source Sans 3"/>
              </a:rPr>
              <a:t> to confirm standards alignment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8594" y="2395728"/>
            <a:ext cx="3594506" cy="3200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8594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3D5AD9"/>
                </a:solidFill>
                <a:latin typeface="Source Sans 3"/>
              </a:rPr>
              <a:t>OPTIMIZE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8594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Adapted for local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8594" y="2926080"/>
            <a:ext cx="3594506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8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80" b="1">
                <a:solidFill>
                  <a:srgbClr val="0C1945"/>
                </a:solidFill>
                <a:latin typeface="Source Sans 3"/>
              </a:rPr>
              <a:t>Capabilities retained</a:t>
            </a:r>
            <a:r>
              <a:rPr sz="880" b="0">
                <a:solidFill>
                  <a:srgbClr val="334155"/>
                </a:solidFill>
                <a:latin typeface="Source Sans 3"/>
              </a:rPr>
              <a:t> but adapted to local market conditions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8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80" b="1">
                <a:solidFill>
                  <a:srgbClr val="0C1945"/>
                </a:solidFill>
                <a:latin typeface="Source Sans 3"/>
              </a:rPr>
              <a:t>Scoped for African</a:t>
            </a:r>
            <a:r>
              <a:rPr sz="880" b="0">
                <a:solidFill>
                  <a:srgbClr val="334155"/>
                </a:solidFill>
                <a:latin typeface="Source Sans 3"/>
              </a:rPr>
              <a:t> regulatory &amp; scale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268" y="2395728"/>
            <a:ext cx="3594506" cy="32004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4268" y="248716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5AFF2"/>
                </a:solidFill>
                <a:latin typeface="Source Sans 3"/>
              </a:rPr>
              <a:t>BUILD 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4268" y="269748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Net-new for Africa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4268" y="2926080"/>
            <a:ext cx="3594506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8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80" b="1">
                <a:solidFill>
                  <a:srgbClr val="0C1945"/>
                </a:solidFill>
                <a:latin typeface="Source Sans 3"/>
              </a:rPr>
              <a:t>Capability gaps identified</a:t>
            </a:r>
            <a:r>
              <a:rPr sz="880" b="0">
                <a:solidFill>
                  <a:srgbClr val="334155"/>
                </a:solidFill>
                <a:latin typeface="Source Sans 3"/>
              </a:rPr>
              <a:t> against Airtel Africa's business journeys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8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80" b="1">
                <a:solidFill>
                  <a:srgbClr val="0C1945"/>
                </a:solidFill>
                <a:latin typeface="Source Sans 3"/>
              </a:rPr>
              <a:t>Net-new builds</a:t>
            </a:r>
            <a:r>
              <a:rPr sz="880" b="0">
                <a:solidFill>
                  <a:srgbClr val="334155"/>
                </a:solidFill>
                <a:latin typeface="Source Sans 3"/>
              </a:rPr>
              <a:t> where nothing existing covers the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39312"/>
            <a:ext cx="3692042" cy="274320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94176"/>
            <a:ext cx="36920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ource Sans 3"/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41063"/>
            <a:ext cx="369204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60" b="0" i="0">
                <a:solidFill>
                  <a:srgbClr val="334155"/>
                </a:solidFill>
                <a:latin typeface="Source Sans 3"/>
              </a:rPr>
              <a:t>Readiness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1538" y="3639312"/>
            <a:ext cx="3692042" cy="274320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31538" y="3694176"/>
            <a:ext cx="36920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ource Sans 3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1538" y="3941063"/>
            <a:ext cx="369204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60" b="0" i="0">
                <a:solidFill>
                  <a:srgbClr val="334155"/>
                </a:solidFill>
                <a:latin typeface="Source Sans 3"/>
              </a:rPr>
              <a:t>Pilot country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60156" y="3639312"/>
            <a:ext cx="3692042" cy="274320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60156" y="3694176"/>
            <a:ext cx="36920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ource Sans 3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0156" y="3941063"/>
            <a:ext cx="369204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60" b="0" i="0">
                <a:solidFill>
                  <a:srgbClr val="334155"/>
                </a:solidFill>
                <a:latin typeface="Source Sans 3"/>
              </a:rPr>
              <a:t>Scale rollout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151376"/>
            <a:ext cx="36371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1" i="0">
                <a:solidFill>
                  <a:srgbClr val="0C1945"/>
                </a:solidFill>
                <a:latin typeface="Lexend"/>
              </a:rPr>
              <a:t>Internal 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334256"/>
            <a:ext cx="363717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00" b="0">
                <a:solidFill>
                  <a:srgbClr val="334155"/>
                </a:solidFill>
                <a:latin typeface="Source Sans 3"/>
              </a:rPr>
              <a:t>Capability optimization ahead of 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1538" y="4151376"/>
            <a:ext cx="36371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1" i="0">
                <a:solidFill>
                  <a:srgbClr val="0C1945"/>
                </a:solidFill>
                <a:latin typeface="Lexend"/>
              </a:rPr>
              <a:t>Pilot country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1538" y="4334256"/>
            <a:ext cx="363717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00" b="0">
                <a:solidFill>
                  <a:srgbClr val="334155"/>
                </a:solidFill>
                <a:latin typeface="Source Sans 3"/>
              </a:rPr>
              <a:t>Launch one country, optimized solution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00" b="0">
                <a:solidFill>
                  <a:srgbClr val="334155"/>
                </a:solidFill>
                <a:latin typeface="Source Sans 3"/>
              </a:rPr>
              <a:t>Stand up parallel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0156" y="4151376"/>
            <a:ext cx="36371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1" i="0">
                <a:solidFill>
                  <a:srgbClr val="0C1945"/>
                </a:solidFill>
                <a:latin typeface="Lexend"/>
              </a:rPr>
              <a:t>Scale rollout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0156" y="4334256"/>
            <a:ext cx="363717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0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00" b="0">
                <a:solidFill>
                  <a:srgbClr val="334155"/>
                </a:solidFill>
                <a:latin typeface="Source Sans 3"/>
              </a:rPr>
              <a:t>Launch remaining countries, in parallel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754880"/>
            <a:ext cx="11185855" cy="603504"/>
          </a:xfrm>
          <a:prstGeom prst="rect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846320"/>
            <a:ext cx="10856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30" b="1" i="0">
                <a:solidFill>
                  <a:srgbClr val="0C1945"/>
                </a:solidFill>
                <a:latin typeface="Source Sans 3"/>
              </a:rPr>
              <a:t>OPERATING MODEL RECOMMENDATION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5047488"/>
            <a:ext cx="1085667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ource Sans 3"/>
              </a:rPr>
              <a:t>Proposed a lean Airtel Africa team operating alongside the SI partner, technology vendor and Airtel India team — not a from-scratch delivery organization. Engaged directly with Airtel Africa's CTIO, CMO and COO, and the Airtel India IT &amp; Architecture team.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504688"/>
            <a:ext cx="111858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504688"/>
            <a:ext cx="41148" cy="822960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605272"/>
            <a:ext cx="10820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3D5AD9"/>
                </a:solidFill>
                <a:latin typeface="Source Sans 3"/>
              </a:rPr>
              <a:t>SO WHAT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815583"/>
            <a:ext cx="1080180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0C1945"/>
                </a:solidFill>
                <a:latin typeface="Source Sans 3"/>
              </a:rPr>
              <a:t>Assessing what already works, benchmarking it against a global standard, and sequencing a phased, fundable rollout — the exact motion needed to take a proven B2B model into a new market, or a new operator.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C1945"/>
                </a:solidFill>
                <a:latin typeface="Lexend"/>
              </a:rPr>
              <a:t>Northgate</a:t>
            </a:r>
            <a:r>
              <a:rPr sz="1050" b="1" i="0">
                <a:solidFill>
                  <a:srgbClr val="05AFF2"/>
                </a:solidFill>
                <a:latin typeface="Lexend"/>
              </a:rPr>
              <a:t>.</a:t>
            </a:r>
            <a:r>
              <a:rPr sz="651" b="1" i="0">
                <a:solidFill>
                  <a:srgbClr val="8B97B5"/>
                </a:solidFill>
                <a:latin typeface="Source Sans 3"/>
              </a:rPr>
              <a:t>  CONSULTING</a:t>
            </a:r>
          </a:p>
        </p:txBody>
      </p:sp>
      <p:sp>
        <p:nvSpPr>
          <p:cNvPr id="43" name="Oval 42"/>
          <p:cNvSpPr/>
          <p:nvPr/>
        </p:nvSpPr>
        <p:spPr>
          <a:xfrm>
            <a:off x="11451031" y="6473952"/>
            <a:ext cx="237744" cy="237744"/>
          </a:xfrm>
          <a:prstGeom prst="ellipse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ource Sans 3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3D5AD9"/>
                </a:solidFill>
                <a:latin typeface="Source Sans 3"/>
              </a:rPr>
              <a:t>INTERNAL INITIATIVE — PORTFOLIO &amp; GTM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C1945"/>
                </a:solidFill>
                <a:latin typeface="Lexend"/>
              </a:rPr>
              <a:t>Tecnotree B2B2X: Building the Platform, the Partner Ecosystem and the Go-to-Market From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334155"/>
                </a:solidFill>
                <a:latin typeface="Source Sans 3"/>
              </a:rPr>
              <a:t>Not a client delivery — the initiative that created the client opportunities in this deck. Go-to-market strategy, a partner ecosystem of recognizable global brands, and CXO-level demand generation across telecom operators worldwide.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743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74519"/>
            <a:ext cx="11039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Source Sans 3"/>
              </a:rPr>
              <a:t>Tecnotree launched a new B2B2X business vertical in 2021 — a single platform for telecom operators to co-create lifestyle bundles with horizontal and vertical partners, and commerce together with them, across B2C and B2B. I owned the go-to-market strategy and the portfolio, working directly with Tecnotree's Management and 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87168"/>
            <a:ext cx="3594506" cy="32004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7860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C1945"/>
                </a:solidFill>
                <a:latin typeface="Source Sans 3"/>
              </a:rP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Go-to-market &amp; business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359450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GTM strategy defined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— sold standalone or bundled with pre-integrated partners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Lean team built and led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to drive the initiative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Continuous reviews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run with Tecnotree Management &amp; 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8594" y="2487168"/>
            <a:ext cx="3594506" cy="3200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8594" y="257860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3D5AD9"/>
                </a:solidFill>
                <a:latin typeface="Source Sans 3"/>
              </a:rPr>
              <a:t>PARTNERSHIPS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8594" y="278892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Vertical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8594" y="3017520"/>
            <a:ext cx="359450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Vertical partnerships built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across healthcare, sports &amp; gaming, education, travel, entertainment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Contracts &amp; agreements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owned directly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Ecosystem integrated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into the Tecnotree B2B2X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268" y="2487168"/>
            <a:ext cx="3594506" cy="32004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4268" y="2578608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5AFF2"/>
                </a:solidFill>
                <a:latin typeface="Source Sans 3"/>
              </a:rPr>
              <a:t>DEMAND 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4268" y="2788920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Global CXO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4268" y="3017520"/>
            <a:ext cx="359450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CXO workshops run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with operators worldwide — Viettel, Indosat, Smartfren, Ooredoo, MTN, Claro, STC+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Demonstrations led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— product and business journey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40" b="1">
                <a:solidFill>
                  <a:srgbClr val="0C1945"/>
                </a:solidFill>
                <a:latin typeface="Source Sans 3"/>
              </a:rPr>
              <a:t>Business-value narrative</a:t>
            </a:r>
            <a:r>
              <a:rPr sz="840" b="0">
                <a:solidFill>
                  <a:srgbClr val="334155"/>
                </a:solidFill>
                <a:latin typeface="Source Sans 3"/>
              </a:rPr>
              <a:t> carried personally, market to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13632"/>
            <a:ext cx="111858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30" b="1" i="0">
                <a:solidFill>
                  <a:srgbClr val="3D5AD9"/>
                </a:solidFill>
                <a:latin typeface="Source Sans 3"/>
              </a:rPr>
              <a:t>PARTNER ECOSYSTEM — HEALTHCARE, SPORTS &amp; GAMING, EDUCATION, TRAVEL &amp; ENTERTAINMENT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51376"/>
            <a:ext cx="1327708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92524"/>
            <a:ext cx="13277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Connect2mydoctor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40356" y="4151376"/>
            <a:ext cx="277977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0356" y="4192524"/>
            <a:ext cx="27797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5C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28062" y="4151376"/>
            <a:ext cx="427939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28062" y="4192524"/>
            <a:ext cx="4279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GHME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65729" y="4151376"/>
            <a:ext cx="577900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65729" y="4192524"/>
            <a:ext cx="5779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BYJU'S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53358" y="4151376"/>
            <a:ext cx="727862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3358" y="4192524"/>
            <a:ext cx="72786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Emirates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0948" y="4151376"/>
            <a:ext cx="1102766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0948" y="4192524"/>
            <a:ext cx="11027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Qatar Airways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03443" y="4151376"/>
            <a:ext cx="577900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03443" y="4192524"/>
            <a:ext cx="5779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KONAMI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4151376"/>
            <a:ext cx="652881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4192524"/>
            <a:ext cx="65288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NETFLIX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53681" y="4151376"/>
            <a:ext cx="577900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3681" y="4192524"/>
            <a:ext cx="5779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Disney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41310" y="4151376"/>
            <a:ext cx="427939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1310" y="4192524"/>
            <a:ext cx="4279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ESPN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8977" y="4151376"/>
            <a:ext cx="577900" cy="237744"/>
          </a:xfrm>
          <a:prstGeom prst="rect">
            <a:avLst/>
          </a:prstGeom>
          <a:solidFill>
            <a:srgbClr val="E8ECF1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8977" y="4192524"/>
            <a:ext cx="5779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30" b="0" i="0">
                <a:solidFill>
                  <a:srgbClr val="0C1945"/>
                </a:solidFill>
                <a:latin typeface="Source Sans 3"/>
              </a:rPr>
              <a:t>LaLiga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864608"/>
            <a:ext cx="11185855" cy="530352"/>
          </a:xfrm>
          <a:prstGeom prst="rect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4956048"/>
            <a:ext cx="10856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30" b="1" i="0">
                <a:solidFill>
                  <a:srgbClr val="0C1945"/>
                </a:solidFill>
                <a:latin typeface="Source Sans 3"/>
              </a:rPr>
              <a:t>OUTCOME — PIPELINE, NOT JUST A DECK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5157216"/>
            <a:ext cx="10856671" cy="146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ource Sans 3"/>
              </a:rPr>
              <a:t>New opportunities secured with Dubai Sports Council, MTN and Claro — direct evidence the strategy converted into pipeline.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504688"/>
            <a:ext cx="111858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504688"/>
            <a:ext cx="41148" cy="822960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" y="5605272"/>
            <a:ext cx="10820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3D5AD9"/>
                </a:solidFill>
                <a:latin typeface="Source Sans 3"/>
              </a:rPr>
              <a:t>SO WHAT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" y="5815583"/>
            <a:ext cx="1080180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0C1945"/>
                </a:solidFill>
                <a:latin typeface="Source Sans 3"/>
              </a:rPr>
              <a:t>The difference between running a program and building one: defining the go-to-market, building the partner ecosystem, and personally carrying the CXO conversation that turns a platform into pipeline.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C1945"/>
                </a:solidFill>
                <a:latin typeface="Lexend"/>
              </a:rPr>
              <a:t>Northgate</a:t>
            </a:r>
            <a:r>
              <a:rPr sz="1050" b="1" i="0">
                <a:solidFill>
                  <a:srgbClr val="05AFF2"/>
                </a:solidFill>
                <a:latin typeface="Lexend"/>
              </a:rPr>
              <a:t>.</a:t>
            </a:r>
            <a:r>
              <a:rPr sz="651" b="1" i="0">
                <a:solidFill>
                  <a:srgbClr val="8B97B5"/>
                </a:solidFill>
                <a:latin typeface="Source Sans 3"/>
              </a:rPr>
              <a:t>  CONSULTING</a:t>
            </a:r>
          </a:p>
        </p:txBody>
      </p:sp>
      <p:sp>
        <p:nvSpPr>
          <p:cNvPr id="51" name="Oval 50"/>
          <p:cNvSpPr/>
          <p:nvPr/>
        </p:nvSpPr>
        <p:spPr>
          <a:xfrm>
            <a:off x="11451031" y="6473952"/>
            <a:ext cx="237744" cy="237744"/>
          </a:xfrm>
          <a:prstGeom prst="ellipse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ource Sans 3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3D5AD9"/>
                </a:solidFill>
                <a:latin typeface="Source Sans 3"/>
              </a:rPr>
              <a:t>CASE STUDY — B2B2X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C1945"/>
                </a:solidFill>
                <a:latin typeface="Lexend"/>
              </a:rPr>
              <a:t>Dubai Sports Council: Building the Marketplace That Makes DSC "A Partner in Life" for Every Traveller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02920" cy="41148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80" b="0" i="0">
                <a:solidFill>
                  <a:srgbClr val="334155"/>
                </a:solidFill>
                <a:latin typeface="Source Sans 3"/>
              </a:rPr>
              <a:t>Business journeys and partnerships documented first, the technical stack built to match — the traveller, not the platform, kept at the centre of every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743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74519"/>
            <a:ext cx="11039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>
                <a:solidFill>
                  <a:srgbClr val="334155"/>
                </a:solidFill>
                <a:latin typeface="Source Sans 3"/>
              </a:rPr>
              <a:t>Dubai Sports Council set out to digitise Dubai's sports ecosystem into a single all-in-one marketplace — so that once a traveller plans their journey, DSC becomes a partner in life for them. DSC awarded the project to Tecnotree; I led the engagement end to 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50592"/>
            <a:ext cx="3594506" cy="32004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C1945"/>
                </a:solidFill>
                <a:latin typeface="Source Sans 3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52344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Business journeys &amp; partnerships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3594506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Business workshops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to map current journeys and existing partnerships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New partnerships identified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to meet the marketplace vision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Journeys documented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ahead of any technical 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8594" y="2450592"/>
            <a:ext cx="3594506" cy="32004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8594" y="2542032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3D5AD9"/>
                </a:solidFill>
                <a:latin typeface="Source Sans 3"/>
              </a:rPr>
              <a:t>PARTNER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8594" y="2752344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Reused + newly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8594" y="2980944"/>
            <a:ext cx="3594506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Pre-onboarded network offered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— Tecnotree's existing partners, as a starting base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New partnerships built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— event managers/hosts, communities, fitness centres, stadiums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Discussions &amp; onboarding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run directly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4268" y="2450592"/>
            <a:ext cx="3594506" cy="32004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4268" y="2542032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5AFF2"/>
                </a:solidFill>
                <a:latin typeface="Source Sans 3"/>
              </a:rPr>
              <a:t>PHASED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4268" y="2752344"/>
            <a:ext cx="35945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Business-led, not tech-led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4268" y="2980944"/>
            <a:ext cx="3594506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Stack built to match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documented business journeys and partnerships, not the reverse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Engineering directed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to optimize the stack against DSC's journeys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>
                <a:solidFill>
                  <a:srgbClr val="0C1945"/>
                </a:solidFill>
                <a:latin typeface="Source Sans 3"/>
              </a:rPr>
              <a:t>Delivery sequenced</a:t>
            </a:r>
            <a:r>
              <a:rPr sz="860" b="0">
                <a:solidFill>
                  <a:srgbClr val="334155"/>
                </a:solidFill>
                <a:latin typeface="Source Sans 3"/>
              </a:rPr>
              <a:t> so the marketplace matched the vision, phase by phase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11185855" cy="658368"/>
          </a:xfrm>
          <a:prstGeom prst="rect">
            <a:avLst/>
          </a:prstGeom>
          <a:solidFill>
            <a:srgbClr val="E8ECF1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343400"/>
            <a:ext cx="10856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30" b="1" i="0">
                <a:solidFill>
                  <a:srgbClr val="0C1945"/>
                </a:solidFill>
                <a:latin typeface="Source Sans 3"/>
              </a:rPr>
              <a:t>ACCOUNT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544568"/>
            <a:ext cx="108566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9" b="0" i="0">
                <a:solidFill>
                  <a:srgbClr val="334155"/>
                </a:solidFill>
                <a:latin typeface="Source Sans 3"/>
              </a:rPr>
              <a:t>Owned account management and scope definition; briefed DSC leadership through daily/monthly steercos; documented every business journey; ran partnership discussions and onboarding directly.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11858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41148" cy="1051560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175504"/>
            <a:ext cx="10820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3D5AD9"/>
                </a:solidFill>
                <a:latin typeface="Source Sans 3"/>
              </a:rPr>
              <a:t>SO WHAT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385816"/>
            <a:ext cx="10801807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0C1945"/>
                </a:solidFill>
                <a:latin typeface="Source Sans 3"/>
              </a:rPr>
              <a:t>Running an account end to end — business discovery, partner strategy and engineering direction — as the single engagement lead, not one function among many. The complete operating model a B2B2X initiative needs from day 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C1945"/>
                </a:solidFill>
                <a:latin typeface="Lexend"/>
              </a:rPr>
              <a:t>Northgate</a:t>
            </a:r>
            <a:r>
              <a:rPr sz="1050" b="1" i="0">
                <a:solidFill>
                  <a:srgbClr val="05AFF2"/>
                </a:solidFill>
                <a:latin typeface="Lexend"/>
              </a:rPr>
              <a:t>.</a:t>
            </a:r>
            <a:r>
              <a:rPr sz="651" b="1" i="0">
                <a:solidFill>
                  <a:srgbClr val="8B97B5"/>
                </a:solidFill>
                <a:latin typeface="Source Sans 3"/>
              </a:rPr>
              <a:t>  CONSULTING</a:t>
            </a:r>
          </a:p>
        </p:txBody>
      </p:sp>
      <p:sp>
        <p:nvSpPr>
          <p:cNvPr id="28" name="Oval 27"/>
          <p:cNvSpPr/>
          <p:nvPr/>
        </p:nvSpPr>
        <p:spPr>
          <a:xfrm>
            <a:off x="11451031" y="6473952"/>
            <a:ext cx="237744" cy="237744"/>
          </a:xfrm>
          <a:prstGeom prst="ellipse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ource Sans 3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3D5AD9"/>
                </a:solidFill>
                <a:latin typeface="Source Sans 3"/>
              </a:rPr>
              <a:t>CASE STUDY — B2B2X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C1945"/>
                </a:solidFill>
                <a:latin typeface="Lexend"/>
              </a:rPr>
              <a:t>Claro Group: Taking a B2B2X Healthcare Marketplace From Boardroom to Live Partner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02920" cy="36576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334155"/>
                </a:solidFill>
                <a:latin typeface="Source Sans 3"/>
              </a:rPr>
              <a:t>Connectivity reimagined as a healthcare marketplace — scoped with Claro's business teams, and signed off from the top of the house.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743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74519"/>
            <a:ext cx="11039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334155"/>
                </a:solidFill>
                <a:latin typeface="Source Sans 3"/>
              </a:rPr>
              <a:t>Claro, part of América Móvil, engaged Tecnotree to launch a B2B2X marketplace on top of its connectivity layer across Latin America. I led the business and technology solution, partner ecosystem and go-to-market strategy for its healthcare vertical.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50592"/>
            <a:ext cx="3593592" cy="36576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0C1945"/>
                </a:solidFill>
                <a:latin typeface="Source Sans 3"/>
              </a:rP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52344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Go-to-market &amp; business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3593592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B2B2X solution presented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to Carlos Slim Jr. and Claro senior management, securing executive buy-in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Go-to-market strategy defined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for a marketplace enabled on top of Claro's connectivity layer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Lifestyle bundles scoped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— connectivity bundled with healthcare services for hospitals &amp; radiologists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450592"/>
            <a:ext cx="3593592" cy="36576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542032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3D5AD9"/>
                </a:solidFill>
                <a:latin typeface="Source Sans 3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52344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Marketplace journeys &amp;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80944"/>
            <a:ext cx="3593592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All-in-one marketplace scoped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for patients, doctors, radiologists and laboratories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Patient journeys mapped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— discover doctors, book appointments, video-consult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Clinical journeys mapped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— diagnosis, prescriptions, lab &amp; scan results, real-time feeds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450592"/>
            <a:ext cx="3593592" cy="36576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542032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05AFF2"/>
                </a:solidFill>
                <a:latin typeface="Source Sans 3"/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752344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Partner ecosystem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980944"/>
            <a:ext cx="3593592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Marketplace implementation led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with pre-integrated healthcare &amp; IoT partners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Journey demonstrations run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for Claro business teams to prove the customer value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Weekly/monthly steercos held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with Claro management, driving UAT and partner discussions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11185855" cy="658368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343400"/>
            <a:ext cx="10853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30" b="1" i="0">
                <a:solidFill>
                  <a:srgbClr val="0C1945"/>
                </a:solidFill>
                <a:latin typeface="Source Sans 3"/>
              </a:rPr>
              <a:t>EXECUTIVE ALIGNMENT &amp; LIVE DEMONSTRATION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544568"/>
            <a:ext cx="10853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334155"/>
                </a:solidFill>
                <a:latin typeface="Source Sans 3"/>
              </a:rPr>
              <a:t>Presented the B2B2X business and technology solution directly to Carlos Slim Jr. and Claro's senior leadership, then ran live healthcare-journey demonstrations for Claro's business teams — proving, not just pitching, the value a connectivity-led marketplace could create.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118585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36576" cy="1051560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175504"/>
            <a:ext cx="10817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 i="0">
                <a:solidFill>
                  <a:srgbClr val="3D5AD9"/>
                </a:solidFill>
                <a:latin typeface="Source Sans 3"/>
              </a:rPr>
              <a:t>SO WHAT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385816"/>
            <a:ext cx="10799064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0C1945"/>
                </a:solidFill>
                <a:latin typeface="Source Sans 3"/>
              </a:rPr>
              <a:t>Healthcare marketplaces don't get built on a slide. They get built when the business journeys are scoped patient by patient, demonstrated to the teams who'll sell them, and signed off by the people who own the company — turning a connectivity layer into a live, partner-powered ecosystem.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C1945"/>
                </a:solidFill>
                <a:latin typeface="Lexend"/>
              </a:rPr>
              <a:t>Northgate</a:t>
            </a:r>
            <a:r>
              <a:rPr sz="1050" b="1" i="0">
                <a:solidFill>
                  <a:srgbClr val="05AFF2"/>
                </a:solidFill>
                <a:latin typeface="Lexend"/>
              </a:rPr>
              <a:t>.</a:t>
            </a:r>
            <a:r>
              <a:rPr sz="651" b="1" i="0">
                <a:solidFill>
                  <a:srgbClr val="8B97B5"/>
                </a:solidFill>
                <a:latin typeface="Source Sans 3"/>
              </a:rPr>
              <a:t>  CONSULTING</a:t>
            </a:r>
          </a:p>
        </p:txBody>
      </p:sp>
      <p:sp>
        <p:nvSpPr>
          <p:cNvPr id="28" name="Oval 27"/>
          <p:cNvSpPr/>
          <p:nvPr/>
        </p:nvSpPr>
        <p:spPr>
          <a:xfrm>
            <a:off x="11451031" y="6473952"/>
            <a:ext cx="237744" cy="237744"/>
          </a:xfrm>
          <a:prstGeom prst="ellipse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Source Sans 3"/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3D5AD9"/>
                </a:solidFill>
                <a:latin typeface="Source Sans 3"/>
              </a:rPr>
              <a:t>CASE STUDY — B2B2X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C1945"/>
                </a:solidFill>
                <a:latin typeface="Lexend"/>
              </a:rPr>
              <a:t>MTN Nigeria: Co-Branding a B2C/B2B2X Lifestyle Marketplace for Gamers, Students and Parents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502920" cy="36576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334155"/>
                </a:solidFill>
                <a:latin typeface="Source Sans 3"/>
              </a:rPr>
              <a:t>One marketplace, two customer bases — MTN and non-MTN Nigerians — brought together on sports, gaming and edtech, bundled with connectivity.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743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74519"/>
            <a:ext cx="11039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334155"/>
                </a:solidFill>
                <a:latin typeface="Source Sans 3"/>
              </a:rPr>
              <a:t>MTN Nigeria set out to launch a co-branded, all-in-one B2B2X marketplace, delivered by Tecnotree. I led partner onboarding, business journeys and go-to-market for the sports, e-gaming and edtech verticals.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50592"/>
            <a:ext cx="3593592" cy="36576"/>
          </a:xfrm>
          <a:prstGeom prst="rect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0C1945"/>
                </a:solidFill>
                <a:latin typeface="Source Sans 3"/>
              </a:rPr>
              <a:t>PARTNERSHIPS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52344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Value proposition &amp;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3593592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Value proposition discussions run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with partners across sports, gaming and edtech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Partners onboarded and integrated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with the B2B2X marketplace solution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SI aggregator onboarded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— pre-integrated with telco payment gateways for seamless B2C payments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450592"/>
            <a:ext cx="3593592" cy="36576"/>
          </a:xfrm>
          <a:prstGeom prst="rect">
            <a:avLst/>
          </a:prstGeom>
          <a:solidFill>
            <a:srgbClr val="3D5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542032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3D5AD9"/>
                </a:solidFill>
                <a:latin typeface="Source Sans 3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52344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B2C &amp; B2B journeys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80944"/>
            <a:ext cx="3593592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Gamer journeys mapped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— buy subscriptions, join tournaments, earn wallet-credited rewards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Student/parent journeys mapped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— curated edtech subscriptions, gamified milestone rewards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B2B journeys defined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for partners, schools and universities alongside the B2C flows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450592"/>
            <a:ext cx="3593592" cy="36576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542032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05AFF2"/>
                </a:solidFill>
                <a:latin typeface="Source Sans 3"/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752344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8B97B5"/>
                </a:solidFill>
                <a:latin typeface="Source Sans 3"/>
              </a:rPr>
              <a:t>Implementation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980944"/>
            <a:ext cx="3593592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Marketplace implementation led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with pre-integrated sports, e-gaming and edtech partners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B2C &amp; B2B demonstrations run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for MTN business teams to prove customer &amp; lifestyle-bundle value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1" i="0">
                <a:solidFill>
                  <a:srgbClr val="05AFF2"/>
                </a:solidFill>
                <a:latin typeface="Source Sans 3"/>
              </a:rPr>
              <a:t>—  </a:t>
            </a:r>
            <a:r>
              <a:rPr sz="860" b="1" i="0">
                <a:solidFill>
                  <a:srgbClr val="0C1945"/>
                </a:solidFill>
                <a:latin typeface="Source Sans 3"/>
              </a:rPr>
              <a:t>Weekly/monthly steercos held</a:t>
            </a:r>
            <a:r>
              <a:rPr sz="860" b="0" i="0">
                <a:solidFill>
                  <a:srgbClr val="334155"/>
                </a:solidFill>
                <a:latin typeface="Source Sans 3"/>
              </a:rPr>
              <a:t> with MTN management, driving progress review and UAT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11185855" cy="658368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343400"/>
            <a:ext cx="10853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30" b="1" i="0">
                <a:solidFill>
                  <a:srgbClr val="0C1945"/>
                </a:solidFill>
                <a:latin typeface="Source Sans 3"/>
              </a:rPr>
              <a:t>MULTI-EXPERIENCE MARKETPLACE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544568"/>
            <a:ext cx="10853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334155"/>
                </a:solidFill>
                <a:latin typeface="Source Sans 3"/>
              </a:rPr>
              <a:t>Gamers buy subscriptions, enter tournaments and get rewarded straight to their telco wallet; students and parents buy curated global-expert content and earn gamified milestones — one marketplace, seamless payments, powered by a pre-integrated SI aggregator.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118585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36576" cy="1051560"/>
          </a:xfrm>
          <a:prstGeom prst="rect">
            <a:avLst/>
          </a:prstGeom>
          <a:solidFill>
            <a:srgbClr val="05A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175504"/>
            <a:ext cx="10817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1" i="0">
                <a:solidFill>
                  <a:srgbClr val="3D5AD9"/>
                </a:solidFill>
                <a:latin typeface="Source Sans 3"/>
              </a:rPr>
              <a:t>SO WHAT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385816"/>
            <a:ext cx="10799064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0C1945"/>
                </a:solidFill>
                <a:latin typeface="Source Sans 3"/>
              </a:rPr>
              <a:t>A telecom's connectivity layer became a lifestyle marketplace the moment MTN and non-MTN customers could pay, play and learn in the same place — proof that a B2B2X platform earns its keep by making the B2C experience better, not just the B2B 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C1945"/>
                </a:solidFill>
                <a:latin typeface="Lexend"/>
              </a:rPr>
              <a:t>Northgate</a:t>
            </a:r>
            <a:r>
              <a:rPr sz="1050" b="1" i="0">
                <a:solidFill>
                  <a:srgbClr val="05AFF2"/>
                </a:solidFill>
                <a:latin typeface="Lexend"/>
              </a:rPr>
              <a:t>.</a:t>
            </a:r>
            <a:r>
              <a:rPr sz="651" b="1" i="0">
                <a:solidFill>
                  <a:srgbClr val="8B97B5"/>
                </a:solidFill>
                <a:latin typeface="Source Sans 3"/>
              </a:rPr>
              <a:t>  CONSULTING</a:t>
            </a:r>
          </a:p>
        </p:txBody>
      </p:sp>
      <p:sp>
        <p:nvSpPr>
          <p:cNvPr id="28" name="Oval 27"/>
          <p:cNvSpPr/>
          <p:nvPr/>
        </p:nvSpPr>
        <p:spPr>
          <a:xfrm>
            <a:off x="11451031" y="6473952"/>
            <a:ext cx="237744" cy="237744"/>
          </a:xfrm>
          <a:prstGeom prst="ellipse">
            <a:avLst/>
          </a:prstGeom>
          <a:solidFill>
            <a:srgbClr val="0C1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Source Sans 3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