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read of the deck. TCR is proposing Orange Romania anchor a national-style A2P sender &amp; campaign registry: register WHO + WHAT, TCR verifies identity by role and shares sender data with Orange (never the traffic), Orange's firewall acts on it. Prize for Orange: fraud/smishing down, grey-route A2P converted to billable traffic, base for verified-sender and RCS revenue. Their four next steps are on the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 contribute, mapped to their next steps. 1) Drive the technical workshops to a signed end-to-end solution. 2) Define the pilot scope - features, acceptance criteria, business KPIs. 3) Deliver to go-live - sprint plan &amp; execution, project plan, stakeholder management, UAT, go-live. Underpinning all of it: I am the bridge between Orange's business teams and TCR's technical teams, translating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study - anonymised Tier-1 European mobile operator. Same class of solution as TCR proposes. Challenge: grey-route / unregistered A2P, no sender visibility, revenue leaking. What we built: central sender &amp; campaign registry + firewall policy integration + violation feedback loop. My role (Solution &amp; Scope Lead): ran workshops to a signed solution, owned pilot scope (features / acceptance criteria / business KPIs), bridged operator business and vendor technical teams, drove UAT and go-live. Outcome: grey-route A2P brought under registration and billing. ACTION: replace [ +__% ] with the real figure you can defend, or swap for a qualitative marker (e.g. 'grey -&gt; registered, rolled to 2 further markets').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rthgate-logo-navy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2336"/>
            <a:ext cx="1217530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73975" y="457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800" b="0" spc="160">
                <a:solidFill>
                  <a:srgbClr val="71799C"/>
                </a:solidFill>
                <a:latin typeface="Lexend"/>
              </a:rPr>
              <a:t>CONFIDENTIAL   ·   DISCUSSION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10029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260">
                <a:solidFill>
                  <a:srgbClr val="2F4BD0"/>
                </a:solidFill>
                <a:latin typeface="Lexend"/>
              </a:rPr>
              <a:t>THE OPPORTUNITY   —   MY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1227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C1945"/>
                </a:solidFill>
                <a:latin typeface="Lexend"/>
              </a:rPr>
              <a:t>What TCR wants to build with Orange Romania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858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54F74"/>
                </a:solidFill>
                <a:latin typeface="Source Sans 3"/>
              </a:rPr>
              <a:t>Orange runs a pilot of a </a:t>
            </a:r>
            <a:r>
              <a:rPr sz="1350" b="1">
                <a:solidFill>
                  <a:srgbClr val="454F74"/>
                </a:solidFill>
                <a:latin typeface="Source Sans 3"/>
              </a:rPr>
              <a:t>national-style A2P sender &amp; campaign registry</a:t>
            </a:r>
            <a:r>
              <a:rPr sz="1350" b="0">
                <a:solidFill>
                  <a:srgbClr val="454F74"/>
                </a:solidFill>
                <a:latin typeface="Source Sans 3"/>
              </a:rPr>
              <a:t>. TCR supplies the identity platform and stays </a:t>
            </a:r>
            <a:r>
              <a:rPr sz="1350" b="1">
                <a:solidFill>
                  <a:srgbClr val="454F74"/>
                </a:solidFill>
                <a:latin typeface="Source Sans 3"/>
              </a:rPr>
              <a:t>out of the message path</a:t>
            </a:r>
            <a:r>
              <a:rPr sz="1350" b="0">
                <a:solidFill>
                  <a:srgbClr val="454F74"/>
                </a:solidFill>
                <a:latin typeface="Source Sans 3"/>
              </a:rPr>
              <a:t>; Orange supplies the market leverage to make senders register.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4086758" y="3218688"/>
            <a:ext cx="210311" cy="182880"/>
          </a:xfrm>
          <a:prstGeom prst="chevron">
            <a:avLst/>
          </a:prstGeom>
          <a:noFill/>
          <a:ln w="17780">
            <a:solidFill>
              <a:srgbClr val="05AF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1  · 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Who &amp;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24528"/>
            <a:ext cx="3332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454F74"/>
                </a:solidFill>
                <a:latin typeface="Source Sans 3"/>
              </a:rPr>
              <a:t>Brands, CSPs and aggregators register their identity and every campaign’s use case in TCR.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9658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922056" y="3218688"/>
            <a:ext cx="210311" cy="182880"/>
          </a:xfrm>
          <a:prstGeom prst="chevron">
            <a:avLst/>
          </a:prstGeom>
          <a:noFill/>
          <a:ln w="17780">
            <a:solidFill>
              <a:srgbClr val="05AF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2  ·  VERIFY &amp;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658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Trusted sender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9658" y="4224528"/>
            <a:ext cx="3332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454F74"/>
                </a:solidFill>
                <a:latin typeface="Source Sans 3"/>
              </a:rPr>
              <a:t>TCR verifies identity by role and feeds sender &amp; campaign data to Orange — not the traffic.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4956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4956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3  · 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Manage the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956" y="4224528"/>
            <a:ext cx="3332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454F74"/>
                </a:solidFill>
                <a:latin typeface="Source Sans 3"/>
              </a:rPr>
              <a:t>Orange’s firewall acts on registration status: curb bad senders, bill and prioritise verified 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1002975" cy="914400"/>
          </a:xfrm>
          <a:prstGeom prst="roundRect">
            <a:avLst>
              <a:gd name="adj" fmla="val 5500"/>
            </a:avLst>
          </a:prstGeom>
          <a:solidFill>
            <a:srgbClr val="EEF5FE"/>
          </a:solidFill>
          <a:ln w="9525">
            <a:solidFill>
              <a:srgbClr val="D7E0F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486400"/>
            <a:ext cx="45720" cy="822960"/>
          </a:xfrm>
          <a:prstGeom prst="rect">
            <a:avLst/>
          </a:prstGeom>
          <a:solidFill>
            <a:srgbClr val="2F4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777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500" b="0">
                <a:solidFill>
                  <a:srgbClr val="2F4BD0"/>
                </a:solidFill>
                <a:latin typeface="Lexen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5559552"/>
            <a:ext cx="9265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90">
                <a:solidFill>
                  <a:srgbClr val="2F4BD0"/>
                </a:solidFill>
                <a:latin typeface="Lexend"/>
              </a:rPr>
              <a:t>WHY IT MATTERS TO 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5769864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Smishing &amp; fraud down   ·   grey-route A2P recaptured as billable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6044184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54F74"/>
                </a:solidFill>
                <a:latin typeface="Source Sans 3"/>
              </a:rPr>
              <a:t>Plus the foundation for verified-sender and RCS business-messaging revenue.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55664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spc="30">
                <a:solidFill>
                  <a:srgbClr val="71799C"/>
                </a:solidFill>
                <a:latin typeface="Lexend"/>
              </a:rPr>
              <a:t>Their ask   —   </a:t>
            </a:r>
            <a:r>
              <a:rPr sz="900" b="1" spc="30">
                <a:solidFill>
                  <a:srgbClr val="71799C"/>
                </a:solidFill>
                <a:latin typeface="Lexend"/>
              </a:rPr>
              <a:t>technical discovery → pilot scope → integration &amp; training → ANCOM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rthgate-logo-navy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2336"/>
            <a:ext cx="1217530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73975" y="457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800" b="0" spc="160">
                <a:solidFill>
                  <a:srgbClr val="71799C"/>
                </a:solidFill>
                <a:latin typeface="Lexend"/>
              </a:rPr>
              <a:t>CONFIDENTIAL   ·   DISCUSSION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10029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260">
                <a:solidFill>
                  <a:srgbClr val="2F4BD0"/>
                </a:solidFill>
                <a:latin typeface="Lexend"/>
              </a:rPr>
              <a:t>HOW I CONTRIBUTE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1227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C1945"/>
                </a:solidFill>
                <a:latin typeface="Lexend"/>
              </a:rPr>
              <a:t>From solution design to go-live — I own that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858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54F74"/>
                </a:solidFill>
                <a:latin typeface="Source Sans 3"/>
              </a:rPr>
              <a:t>20 years running operator delivery programmes — </a:t>
            </a:r>
            <a:r>
              <a:rPr sz="1350" b="1">
                <a:solidFill>
                  <a:srgbClr val="454F74"/>
                </a:solidFill>
                <a:latin typeface="Source Sans 3"/>
              </a:rPr>
              <a:t>first technical workshop to live service</a:t>
            </a:r>
            <a:r>
              <a:rPr sz="1350" b="0">
                <a:solidFill>
                  <a:srgbClr val="454F74"/>
                </a:solidFill>
                <a:latin typeface="Source Sans 3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4086758" y="3218688"/>
            <a:ext cx="210311" cy="182880"/>
          </a:xfrm>
          <a:prstGeom prst="chevron">
            <a:avLst/>
          </a:prstGeom>
          <a:noFill/>
          <a:ln w="17780">
            <a:solidFill>
              <a:srgbClr val="05AF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Drive technical workshops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24528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End-to-end solution design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Integration &amp; data flows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Solution signed off both sides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9658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922056" y="3218688"/>
            <a:ext cx="210311" cy="182880"/>
          </a:xfrm>
          <a:prstGeom prst="chevron">
            <a:avLst/>
          </a:prstGeom>
          <a:noFill/>
          <a:ln w="17780">
            <a:solidFill>
              <a:srgbClr val="05AF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658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Define the pilot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9658" y="4224528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Features in / out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Acceptance criteria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Business KPIs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4956" y="3310128"/>
            <a:ext cx="3332378" cy="27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4956" y="3447288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60">
                <a:solidFill>
                  <a:srgbClr val="71799C"/>
                </a:solidFill>
                <a:latin typeface="Lexend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3712464"/>
            <a:ext cx="33323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1945"/>
                </a:solidFill>
                <a:latin typeface="Lexend"/>
              </a:rPr>
              <a:t>Deliver to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956" y="4224528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Sprint plan &amp; execution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Project plan &amp; stakeholders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50" b="1">
                <a:solidFill>
                  <a:srgbClr val="5B73E6"/>
                </a:solidFill>
                <a:latin typeface="Lexend"/>
              </a:rPr>
              <a:t>—  </a:t>
            </a:r>
            <a:r>
              <a:rPr sz="1100">
                <a:solidFill>
                  <a:srgbClr val="454F74"/>
                </a:solidFill>
                <a:latin typeface="Source Sans 3"/>
              </a:rPr>
              <a:t>UAT &amp; go-live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1002975" cy="914400"/>
          </a:xfrm>
          <a:prstGeom prst="roundRect">
            <a:avLst>
              <a:gd name="adj" fmla="val 5500"/>
            </a:avLst>
          </a:prstGeom>
          <a:solidFill>
            <a:srgbClr val="EEF5FE"/>
          </a:solidFill>
          <a:ln w="9525">
            <a:solidFill>
              <a:srgbClr val="D7E0F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486400"/>
            <a:ext cx="45720" cy="822960"/>
          </a:xfrm>
          <a:prstGeom prst="rect">
            <a:avLst/>
          </a:prstGeom>
          <a:solidFill>
            <a:srgbClr val="2F4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777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500" b="0">
                <a:solidFill>
                  <a:srgbClr val="2F4BD0"/>
                </a:solidFill>
                <a:latin typeface="Lexend"/>
              </a:rPr>
              <a:t>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5559552"/>
            <a:ext cx="9265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90">
                <a:solidFill>
                  <a:srgbClr val="2F4BD0"/>
                </a:solidFill>
                <a:latin typeface="Lexend"/>
              </a:rPr>
              <a:t>RUNS ACROSS EVERY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5769864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The bridge — Orange business   ⇄   TCR technical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6044184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54F74"/>
                </a:solidFill>
                <a:latin typeface="Source Sans 3"/>
              </a:rPr>
              <a:t>One person accountable for translating requirements, constraints and decisions — both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rthgate-logo-navy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2336"/>
            <a:ext cx="1217530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73975" y="457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800" b="0" spc="160">
                <a:solidFill>
                  <a:srgbClr val="71799C"/>
                </a:solidFill>
                <a:latin typeface="Lexend"/>
              </a:rPr>
              <a:t>CONFIDENTIAL   ·   DISCUSSION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10029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260">
                <a:solidFill>
                  <a:srgbClr val="2F4BD0"/>
                </a:solidFill>
                <a:latin typeface="Lexend"/>
              </a:rPr>
              <a:t>CASE STUDY   —   TIER-1 EUROPEAN MOBILE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12273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C1945"/>
                </a:solidFill>
                <a:latin typeface="Lexend"/>
              </a:rPr>
              <a:t>Turning grey-route A2P into billable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858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54F74"/>
                </a:solidFill>
                <a:latin typeface="Source Sans 3"/>
              </a:rPr>
              <a:t>A large share of enterprise SMS was arriving via grey routes and unregistered senders — </a:t>
            </a:r>
            <a:r>
              <a:rPr sz="1350" b="1">
                <a:solidFill>
                  <a:srgbClr val="454F74"/>
                </a:solidFill>
                <a:latin typeface="Source Sans 3"/>
              </a:rPr>
              <a:t>no line of sight on the sender, and A2P revenue leaking</a:t>
            </a:r>
            <a:r>
              <a:rPr sz="1350" b="0">
                <a:solidFill>
                  <a:srgbClr val="454F74"/>
                </a:solidFill>
                <a:latin typeface="Source Sans 3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00400"/>
            <a:ext cx="3332378" cy="27432"/>
          </a:xfrm>
          <a:prstGeom prst="rect">
            <a:avLst/>
          </a:prstGeom>
          <a:solidFill>
            <a:srgbClr val="D7E0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40">
                <a:solidFill>
                  <a:srgbClr val="71799C"/>
                </a:solidFill>
                <a:latin typeface="Lexend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9359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No line of sight on A2P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9664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Grey-route &amp; unregistered traffic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Sender unknown per message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Leaking revenue, rising smishing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3200400"/>
            <a:ext cx="3332378" cy="27432"/>
          </a:xfrm>
          <a:prstGeom prst="rect">
            <a:avLst/>
          </a:prstGeom>
          <a:solidFill>
            <a:srgbClr val="D7E0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3337560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40">
                <a:solidFill>
                  <a:srgbClr val="71799C"/>
                </a:solidFill>
                <a:latin typeface="Lexend"/>
              </a:rPr>
              <a:t>WHAT WE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359359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Registry + firewall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4169664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Central sender &amp; campaign registry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Wired into the messaging firewall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Violation-metrics feedback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4956" y="3200400"/>
            <a:ext cx="3332378" cy="27432"/>
          </a:xfrm>
          <a:prstGeom prst="rect">
            <a:avLst/>
          </a:prstGeom>
          <a:solidFill>
            <a:srgbClr val="2F4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956" y="3337560"/>
            <a:ext cx="3332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40">
                <a:solidFill>
                  <a:srgbClr val="2F4BD0"/>
                </a:solidFill>
                <a:latin typeface="Lexend"/>
              </a:rPr>
              <a:t>MY ROLE — SOLUTION &amp; SCOPE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359359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Workshop to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956" y="4169664"/>
            <a:ext cx="333237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Ran workshops to a signed solution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Owned scope: features, criteria, KPIs</a:t>
            </a:r>
          </a:p>
          <a:p>
            <a:pPr>
              <a:lnSpc>
                <a:spcPct val="126000"/>
              </a:lnSpc>
              <a:spcAft>
                <a:spcPts val="600"/>
              </a:spcAft>
            </a:pPr>
            <a:r>
              <a:rPr sz="1000" b="1">
                <a:solidFill>
                  <a:srgbClr val="5B73E6"/>
                </a:solidFill>
                <a:latin typeface="Lexend"/>
              </a:rPr>
              <a:t>—  </a:t>
            </a:r>
            <a:r>
              <a:rPr sz="1050">
                <a:solidFill>
                  <a:srgbClr val="454F74"/>
                </a:solidFill>
                <a:latin typeface="Source Sans 3"/>
              </a:rPr>
              <a:t>Bridged business &amp; vendor tech; UAT + go-live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40680"/>
            <a:ext cx="11002975" cy="914400"/>
          </a:xfrm>
          <a:prstGeom prst="roundRect">
            <a:avLst>
              <a:gd name="adj" fmla="val 5500"/>
            </a:avLst>
          </a:prstGeom>
          <a:solidFill>
            <a:srgbClr val="EEF5FE"/>
          </a:solidFill>
          <a:ln w="9525">
            <a:solidFill>
              <a:srgbClr val="D7E0F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5486400"/>
            <a:ext cx="45720" cy="822960"/>
          </a:xfrm>
          <a:prstGeom prst="rect">
            <a:avLst/>
          </a:prstGeom>
          <a:solidFill>
            <a:srgbClr val="2F4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777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500" b="0">
                <a:solidFill>
                  <a:srgbClr val="2F4BD0"/>
                </a:solidFill>
                <a:latin typeface="Lexend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5559552"/>
            <a:ext cx="71624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1" spc="190">
                <a:solidFill>
                  <a:srgbClr val="2F4BD0"/>
                </a:solidFill>
                <a:latin typeface="Lexend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576986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C1945"/>
                </a:solidFill>
                <a:latin typeface="Lexend"/>
              </a:rPr>
              <a:t>Grey-route A2P brought under registration and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6044184"/>
            <a:ext cx="71624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54F74"/>
                </a:solidFill>
                <a:latin typeface="Source Sans 3"/>
              </a:rPr>
              <a:t>Traffic converted from grey to registered, billable routes — and a repeatable model for the next markets.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2735" y="5641848"/>
            <a:ext cx="12801" cy="512064"/>
          </a:xfrm>
          <a:prstGeom prst="rect">
            <a:avLst/>
          </a:prstGeom>
          <a:solidFill>
            <a:srgbClr val="D7E0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7055" y="5577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000" b="1">
                <a:solidFill>
                  <a:srgbClr val="2F4BD0"/>
                </a:solidFill>
                <a:latin typeface="Lexend"/>
              </a:rPr>
              <a:t>[ +__%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7055" y="60258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800" b="0" spc="110">
                <a:solidFill>
                  <a:srgbClr val="71799C"/>
                </a:solidFill>
                <a:latin typeface="Lexend"/>
              </a:rPr>
              <a:t>BILLABLE A2P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