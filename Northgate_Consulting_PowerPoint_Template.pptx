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Northgate</c:v>
                </c:pt>
              </c:strCache>
            </c:strRef>
          </c:tx>
          <c:spPr>
            <a:solidFill>
              <a:srgbClr val="3D5AD9"/>
            </a:solidFill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</c:v>
                </c:pt>
                <c:pt idx="1">
                  <c:v>6.8</c:v>
                </c:pt>
                <c:pt idx="2">
                  <c:v>9.5</c:v>
                </c:pt>
                <c:pt idx="3">
                  <c:v>13.1</c:v>
                </c:pt>
                <c:pt idx="4">
                  <c:v>17.4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 Avg.</c:v>
                </c:pt>
              </c:strCache>
            </c:strRef>
          </c:tx>
          <c:spPr>
            <a:solidFill>
              <a:srgbClr val="E2E8F0"/>
            </a:solidFill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3.9</c:v>
                </c:pt>
                <c:pt idx="1">
                  <c:v>4.4</c:v>
                </c:pt>
                <c:pt idx="2">
                  <c:v>5.0</c:v>
                </c:pt>
                <c:pt idx="3">
                  <c:v>5.6</c:v>
                </c:pt>
                <c:pt idx="4">
                  <c:v>6.1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latin typeface="Source Sans 3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latin typeface="Source Sans 3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Source Sans 3"/>
            </a:defRPr>
          </a:pPr>
        </a:p>
      </c:txPr>
    </c:legend>
    <c:dispBlanksAs val="gap"/>
  </c:chart>
  <c:txPr>
    <a:bodyPr/>
    <a:lstStyle/>
    <a:p>
      <a:pPr>
        <a:defRPr sz="1800">
          <a:latin typeface="Source Sans 3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103120"/>
            <a:ext cx="6400800" cy="6400800"/>
          </a:xfrm>
          <a:prstGeom prst="ellipse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0" y="3474720"/>
            <a:ext cx="6858000" cy="6858000"/>
          </a:xfrm>
          <a:prstGeom prst="ellipse">
            <a:avLst/>
          </a:prstGeom>
          <a:solidFill>
            <a:srgbClr val="11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3657600" cy="4416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29" b="1" i="0" spc="-40">
                <a:solidFill>
                  <a:srgbClr val="FFFFFF"/>
                </a:solidFill>
                <a:latin typeface="Lexend"/>
              </a:rPr>
              <a:t>Northgate</a:t>
            </a:r>
            <a:r>
              <a:rPr sz="2833" b="1" i="0">
                <a:solidFill>
                  <a:srgbClr val="05AFF2"/>
                </a:solidFill>
                <a:latin typeface="Lexen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23543"/>
            <a:ext cx="3657600" cy="231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7" b="0" i="0" spc="220">
                <a:solidFill>
                  <a:srgbClr val="8C93AC"/>
                </a:solidFill>
                <a:latin typeface="Consolas"/>
              </a:rPr>
              <a:t>CONSULTING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788920"/>
            <a:ext cx="502920" cy="0"/>
          </a:xfrm>
          <a:prstGeom prst="line">
            <a:avLst/>
          </a:prstGeom>
          <a:ln w="6350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97180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 spc="-50">
                <a:solidFill>
                  <a:srgbClr val="FFFFFF"/>
                </a:solidFill>
                <a:latin typeface="Lexend"/>
              </a:rPr>
              <a:t>Presentation Title Goes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8B97B5"/>
                </a:solidFill>
                <a:latin typeface="Source Sans 3"/>
              </a:rPr>
              <a:t>A concise subtitle framing the engagement, client, or topic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5897880"/>
            <a:ext cx="2011680" cy="0"/>
          </a:xfrm>
          <a:prstGeom prst="line">
            <a:avLst/>
          </a:prstGeom>
          <a:ln w="190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035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80">
                <a:solidFill>
                  <a:srgbClr val="8B97B5"/>
                </a:solidFill>
                <a:latin typeface="Source Sans 3"/>
              </a:rPr>
              <a:t>PREPARED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ource Sans 3"/>
              </a:rPr>
              <a:t>Client / Organization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60350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 spc="180">
                <a:solidFill>
                  <a:srgbClr val="8B97B5"/>
                </a:solidFill>
                <a:latin typeface="Source Sans 3"/>
              </a:rPr>
              <a:t>MONTH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2910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ource Sans 3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103120"/>
            <a:ext cx="6400800" cy="6400800"/>
          </a:xfrm>
          <a:prstGeom prst="ellipse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0" y="3474720"/>
            <a:ext cx="6858000" cy="6858000"/>
          </a:xfrm>
          <a:prstGeom prst="ellipse">
            <a:avLst/>
          </a:prstGeom>
          <a:solidFill>
            <a:srgbClr val="11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 i="0">
                <a:solidFill>
                  <a:srgbClr val="16255E"/>
                </a:solidFill>
                <a:latin typeface="Lexend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246120"/>
            <a:ext cx="502920" cy="0"/>
          </a:xfrm>
          <a:prstGeom prst="line">
            <a:avLst/>
          </a:prstGeom>
          <a:ln w="6350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34290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 spc="-40">
                <a:solidFill>
                  <a:srgbClr val="FFFFFF"/>
                </a:solidFill>
                <a:latin typeface="Lexend"/>
              </a:rPr>
              <a:t>Section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B97B5"/>
                </a:solidFill>
                <a:latin typeface="Source Sans 3"/>
              </a:rPr>
              <a:t>One-line framing of what this section covers and why it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3657600" cy="2688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39" b="1" i="0" spc="-40">
                <a:solidFill>
                  <a:srgbClr val="FFFFFF"/>
                </a:solidFill>
                <a:latin typeface="Lexend"/>
              </a:rPr>
              <a:t>Northgate</a:t>
            </a:r>
            <a:r>
              <a:rPr sz="1724" b="1" i="0">
                <a:solidFill>
                  <a:srgbClr val="05AFF2"/>
                </a:solidFill>
                <a:latin typeface="Lexend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58951"/>
            <a:ext cx="3657600" cy="1408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94" b="0" i="0" spc="220">
                <a:solidFill>
                  <a:srgbClr val="8C93AC"/>
                </a:solidFill>
                <a:latin typeface="Consolas"/>
              </a:rPr>
              <a:t>CONSULTING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60">
                <a:solidFill>
                  <a:srgbClr val="05AFF2"/>
                </a:solidFill>
                <a:latin typeface="Source Sans 3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 spc="-30">
                <a:solidFill>
                  <a:srgbClr val="0C1945"/>
                </a:solidFill>
                <a:latin typeface="Lexend"/>
              </a:rPr>
              <a:t>What We'll Cover Today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571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96596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5AFF2"/>
                </a:solidFill>
                <a:latin typeface="Lexend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17320" y="2011680"/>
            <a:ext cx="0" cy="6858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91640" y="19659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 spc="-20">
                <a:solidFill>
                  <a:srgbClr val="0C1945"/>
                </a:solidFill>
                <a:latin typeface="Lexen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35000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Source Sans 3"/>
              </a:rPr>
              <a:t>Headline findings and the recommended path forward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880360"/>
            <a:ext cx="1091153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01752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5AFF2"/>
                </a:solidFill>
                <a:latin typeface="Lexend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3063240"/>
            <a:ext cx="0" cy="6858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91640" y="3017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 spc="-20">
                <a:solidFill>
                  <a:srgbClr val="0C1945"/>
                </a:solidFill>
                <a:latin typeface="Lexend"/>
              </a:rPr>
              <a:t>Market &amp; Competitive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01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Source Sans 3"/>
              </a:rPr>
              <a:t>Where the landscape is shifting and why it matters now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931920"/>
            <a:ext cx="1091153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406908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5AFF2"/>
                </a:solidFill>
                <a:latin typeface="Lexend"/>
              </a:rPr>
              <a:t>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17320" y="4114800"/>
            <a:ext cx="0" cy="6858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9164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 spc="-20">
                <a:solidFill>
                  <a:srgbClr val="0C1945"/>
                </a:solidFill>
                <a:latin typeface="Lexend"/>
              </a:rPr>
              <a:t>Strategic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45312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Source Sans 3"/>
              </a:rPr>
              <a:t>The choices on the table, evaluated side by side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983480"/>
            <a:ext cx="1091153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12064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5AFF2"/>
                </a:solidFill>
                <a:latin typeface="Lexend"/>
              </a:rPr>
              <a:t>04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17320" y="5166360"/>
            <a:ext cx="0" cy="6858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91640" y="512064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 spc="-20">
                <a:solidFill>
                  <a:srgbClr val="0C1945"/>
                </a:solidFill>
                <a:latin typeface="Lexend"/>
              </a:rPr>
              <a:t>Recommendation &amp;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5046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Source Sans 3"/>
              </a:rPr>
              <a:t>The path we recommend and how to sequence 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>
                <a:solidFill>
                  <a:srgbClr val="8B97B5"/>
                </a:solidFill>
                <a:latin typeface="Lexend"/>
              </a:rPr>
              <a:t>NORTHGATE.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2881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8B97B5"/>
                </a:solidFill>
                <a:latin typeface="Source Sans 3"/>
              </a:rPr>
              <a:t>Northgate Consulting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60">
                <a:solidFill>
                  <a:srgbClr val="8B97B5"/>
                </a:solidFill>
                <a:latin typeface="Source Sans 3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60">
                <a:solidFill>
                  <a:srgbClr val="05AFF2"/>
                </a:solidFill>
                <a:latin typeface="Source Sans 3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 spc="-30">
                <a:solidFill>
                  <a:srgbClr val="0C1945"/>
                </a:solidFill>
                <a:latin typeface="Lexend"/>
              </a:rPr>
              <a:t>The Bottom Line, Up Front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571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" cy="960120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02714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0C1945"/>
                </a:solidFill>
                <a:latin typeface="Source Sans 3"/>
              </a:rPr>
              <a:t>State the single most important takeaway here in one crisp, decision-ready sentence that a reader could act on without reading further.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3454298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96112.0" y="3355848"/>
            <a:ext cx="365760.0" cy="0"/>
          </a:xfrm>
          <a:prstGeom prst="line">
            <a:avLst/>
          </a:prstGeom>
          <a:ln w="3810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6112" y="3520440"/>
            <a:ext cx="29422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3D5AD9"/>
                </a:solidFill>
                <a:latin typeface="Source Sans 3"/>
              </a:rPr>
              <a:t>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31920"/>
            <a:ext cx="294223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ource Sans 3"/>
              </a:rPr>
              <a:t>A supporting insight from the analysis, stated plainly and specifically.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3063240"/>
            <a:ext cx="3454298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624730.333333334" y="3355848"/>
            <a:ext cx="365760.0" cy="0"/>
          </a:xfrm>
          <a:prstGeom prst="line">
            <a:avLst/>
          </a:prstGeom>
          <a:ln w="3810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24730" y="3520440"/>
            <a:ext cx="29422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3D5AD9"/>
                </a:solidFill>
                <a:latin typeface="Source Sans 3"/>
              </a:rPr>
              <a:t>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4730" y="3931920"/>
            <a:ext cx="294223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ource Sans 3"/>
              </a:rPr>
              <a:t>What this finding means for the business if left unaddressed.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3063240"/>
            <a:ext cx="3454298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353348.666666667" y="3355848"/>
            <a:ext cx="365760.00000000093" cy="0"/>
          </a:xfrm>
          <a:prstGeom prst="line">
            <a:avLst/>
          </a:prstGeom>
          <a:ln w="3810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53348" y="3520440"/>
            <a:ext cx="29422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3D5AD9"/>
                </a:solidFill>
                <a:latin typeface="Source Sans 3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348" y="3931920"/>
            <a:ext cx="294223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ource Sans 3"/>
              </a:rPr>
              <a:t>The concrete action we recommend taking, and by when.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>
                <a:solidFill>
                  <a:srgbClr val="8B97B5"/>
                </a:solidFill>
                <a:latin typeface="Lexend"/>
              </a:rPr>
              <a:t>NORTHGATE.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2881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8B97B5"/>
                </a:solidFill>
                <a:latin typeface="Source Sans 3"/>
              </a:rPr>
              <a:t>Northgate Consulting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60">
                <a:solidFill>
                  <a:srgbClr val="8B97B5"/>
                </a:solidFill>
                <a:latin typeface="Source Sans 3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60">
                <a:solidFill>
                  <a:srgbClr val="05AFF2"/>
                </a:solidFill>
                <a:latin typeface="Source Sans 3"/>
              </a:rPr>
              <a:t>SITUATION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 spc="-30">
                <a:solidFill>
                  <a:srgbClr val="0C1945"/>
                </a:solidFill>
                <a:latin typeface="Lexend"/>
              </a:rPr>
              <a:t>Key Content Slide Title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571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965960"/>
            <a:ext cx="66751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1450" b="1">
                <a:solidFill>
                  <a:srgbClr val="0C1945"/>
                </a:solidFill>
                <a:latin typeface="Source Sans 3"/>
              </a:rPr>
              <a:t>First point, bolded lead-in.</a:t>
            </a:r>
            <a:r>
              <a:rPr sz="1450" b="0">
                <a:solidFill>
                  <a:srgbClr val="334155"/>
                </a:solidFill>
                <a:latin typeface="Source Sans 3"/>
              </a:rPr>
              <a:t> Follow with the supporting detail that gives the point weight and specificity.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1450" b="1">
                <a:solidFill>
                  <a:srgbClr val="0C1945"/>
                </a:solidFill>
                <a:latin typeface="Source Sans 3"/>
              </a:rPr>
              <a:t>Second point, bolded lead-in.</a:t>
            </a:r>
            <a:r>
              <a:rPr sz="1450" b="0">
                <a:solidFill>
                  <a:srgbClr val="334155"/>
                </a:solidFill>
                <a:latin typeface="Source Sans 3"/>
              </a:rPr>
              <a:t> Keep each bullet to a single idea — split anything that carries two.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1450" b="1">
                <a:solidFill>
                  <a:srgbClr val="0C1945"/>
                </a:solidFill>
                <a:latin typeface="Source Sans 3"/>
              </a:rPr>
              <a:t>Third point, bolded lead-in.</a:t>
            </a:r>
            <a:r>
              <a:rPr sz="1450" b="0">
                <a:solidFill>
                  <a:srgbClr val="334155"/>
                </a:solidFill>
                <a:latin typeface="Source Sans 3"/>
              </a:rPr>
              <a:t> Close with an implication or so-what, not just an observation.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1450" b="1">
                <a:solidFill>
                  <a:srgbClr val="0C1945"/>
                </a:solidFill>
                <a:latin typeface="Source Sans 3"/>
              </a:rPr>
              <a:t>Fourth point, bolded lead-in.</a:t>
            </a:r>
            <a:r>
              <a:rPr sz="1450" b="0">
                <a:solidFill>
                  <a:srgbClr val="334155"/>
                </a:solidFill>
                <a:latin typeface="Source Sans 3"/>
              </a:rPr>
              <a:t> Use this row for a caveat, risk, or dependency if relevant.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96596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2860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80">
                <a:solidFill>
                  <a:srgbClr val="05AFF2"/>
                </a:solidFill>
                <a:latin typeface="Source Sans 3"/>
              </a:rPr>
              <a:t>SO 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69748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 spc="-20">
                <a:solidFill>
                  <a:srgbClr val="FFFFFF"/>
                </a:solidFill>
                <a:latin typeface="Lexend"/>
              </a:rPr>
              <a:t>Use this rail to isolate the single implication a reader must walk away with.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>
                <a:solidFill>
                  <a:srgbClr val="8B97B5"/>
                </a:solidFill>
                <a:latin typeface="Lexend"/>
              </a:rPr>
              <a:t>NORTHGATE.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2881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8B97B5"/>
                </a:solidFill>
                <a:latin typeface="Source Sans 3"/>
              </a:rPr>
              <a:t>Northgate Consulting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60">
                <a:solidFill>
                  <a:srgbClr val="8B97B5"/>
                </a:solidFill>
                <a:latin typeface="Source Sans 3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60">
                <a:solidFill>
                  <a:srgbClr val="05AFF2"/>
                </a:solidFill>
                <a:latin typeface="Source Sans 3"/>
              </a:rPr>
              <a:t>STRATEGIC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 spc="-30">
                <a:solidFill>
                  <a:srgbClr val="0C1945"/>
                </a:solidFill>
                <a:latin typeface="Lexend"/>
              </a:rPr>
              <a:t>Option A vs. Option 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571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965960"/>
            <a:ext cx="5227167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227167" cy="777240"/>
          </a:xfrm>
          <a:prstGeom prst="rect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93976"/>
            <a:ext cx="467852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60">
                <a:solidFill>
                  <a:srgbClr val="3D5AD9"/>
                </a:solidFill>
                <a:latin typeface="Source Sans 3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Lexend"/>
              </a:rPr>
              <a:t>Descriptive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678527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1">
                <a:solidFill>
                  <a:srgbClr val="3D5AD9"/>
                </a:solidFill>
                <a:latin typeface="Source Sans 3"/>
              </a:rPr>
              <a:t>—  </a:t>
            </a:r>
            <a:r>
              <a:rPr sz="1300" b="0">
                <a:solidFill>
                  <a:srgbClr val="334155"/>
                </a:solidFill>
                <a:latin typeface="Source Sans 3"/>
              </a:rPr>
              <a:t>Core characteristic of this path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1">
                <a:solidFill>
                  <a:srgbClr val="3D5AD9"/>
                </a:solidFill>
                <a:latin typeface="Source Sans 3"/>
              </a:rPr>
              <a:t>—  </a:t>
            </a:r>
            <a:r>
              <a:rPr sz="1300" b="0">
                <a:solidFill>
                  <a:srgbClr val="334155"/>
                </a:solidFill>
                <a:latin typeface="Source Sans 3"/>
              </a:rPr>
              <a:t>Primary advantage it offers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1">
                <a:solidFill>
                  <a:srgbClr val="3D5AD9"/>
                </a:solidFill>
                <a:latin typeface="Source Sans 3"/>
              </a:rPr>
              <a:t>—  </a:t>
            </a:r>
            <a:r>
              <a:rPr sz="1300" b="0">
                <a:solidFill>
                  <a:srgbClr val="334155"/>
                </a:solidFill>
                <a:latin typeface="Source Sans 3"/>
              </a:rPr>
              <a:t>Key risk or tradeoff to manage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1">
                <a:solidFill>
                  <a:srgbClr val="3D5AD9"/>
                </a:solidFill>
                <a:latin typeface="Source Sans 3"/>
              </a:rPr>
              <a:t>—  </a:t>
            </a:r>
            <a:r>
              <a:rPr sz="1300" b="0">
                <a:solidFill>
                  <a:srgbClr val="334155"/>
                </a:solidFill>
                <a:latin typeface="Source Sans 3"/>
              </a:rPr>
              <a:t>Rough cost / timeline 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965960"/>
            <a:ext cx="5227167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447" y="1965960"/>
            <a:ext cx="5227167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2093976"/>
            <a:ext cx="467852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60">
                <a:solidFill>
                  <a:srgbClr val="3D5AD9"/>
                </a:solidFill>
                <a:latin typeface="Source Sans 3"/>
              </a:rPr>
              <a:t>OPTION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233172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C1945"/>
                </a:solidFill>
                <a:latin typeface="Lexend"/>
              </a:rPr>
              <a:t>Descriptive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2971800"/>
            <a:ext cx="4678527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1300" b="0">
                <a:solidFill>
                  <a:srgbClr val="334155"/>
                </a:solidFill>
                <a:latin typeface="Source Sans 3"/>
              </a:rPr>
              <a:t>Core characteristic of this path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1300" b="0">
                <a:solidFill>
                  <a:srgbClr val="334155"/>
                </a:solidFill>
                <a:latin typeface="Source Sans 3"/>
              </a:rPr>
              <a:t>Primary advantage it offers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1300" b="0">
                <a:solidFill>
                  <a:srgbClr val="334155"/>
                </a:solidFill>
                <a:latin typeface="Source Sans 3"/>
              </a:rPr>
              <a:t>Key risk or tradeoff to manage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1300" b="0">
                <a:solidFill>
                  <a:srgbClr val="334155"/>
                </a:solidFill>
                <a:latin typeface="Source Sans 3"/>
              </a:rPr>
              <a:t>Rough cost / timeline signal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>
                <a:solidFill>
                  <a:srgbClr val="8B97B5"/>
                </a:solidFill>
                <a:latin typeface="Lexend"/>
              </a:rPr>
              <a:t>NORTHGATE.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2881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8B97B5"/>
                </a:solidFill>
                <a:latin typeface="Source Sans 3"/>
              </a:rPr>
              <a:t>Northgate Consulting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60">
                <a:solidFill>
                  <a:srgbClr val="8B97B5"/>
                </a:solidFill>
                <a:latin typeface="Source Sans 3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60">
                <a:solidFill>
                  <a:srgbClr val="05AFF2"/>
                </a:solidFill>
                <a:latin typeface="Source Sans 3"/>
              </a:rPr>
              <a:t>MARKET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 spc="-30">
                <a:solidFill>
                  <a:srgbClr val="0C1945"/>
                </a:solidFill>
                <a:latin typeface="Lexend"/>
              </a:rPr>
              <a:t>Revenue Growth Outpaces the Category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571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965960"/>
          <a:ext cx="74066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21040" y="1965960"/>
            <a:ext cx="3017520" cy="4114800"/>
          </a:xfrm>
          <a:prstGeom prst="roundRect">
            <a:avLst>
              <a:gd name="adj" fmla="val 8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224028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3D5AD9"/>
                </a:solidFill>
                <a:latin typeface="Source Sans 3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60604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C1945"/>
                </a:solidFill>
                <a:latin typeface="Lexend"/>
              </a:rPr>
              <a:t>2.9x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3375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Source Sans 3"/>
              </a:rPr>
              <a:t>category growth multiple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95360" y="3886200"/>
            <a:ext cx="24688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95360" y="4069080"/>
            <a:ext cx="2468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Source Sans 3"/>
              </a:rPr>
              <a:t>Replace with a one-sentence explanation of what's driving the gap and why it should continue.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>
                <a:solidFill>
                  <a:srgbClr val="8B97B5"/>
                </a:solidFill>
                <a:latin typeface="Lexend"/>
              </a:rPr>
              <a:t>NORTHGATE.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2881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8B97B5"/>
                </a:solidFill>
                <a:latin typeface="Source Sans 3"/>
              </a:rPr>
              <a:t>Northgate Consulting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60">
                <a:solidFill>
                  <a:srgbClr val="8B97B5"/>
                </a:solidFill>
                <a:latin typeface="Source Sans 3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60">
                <a:solidFill>
                  <a:srgbClr val="05AFF2"/>
                </a:solidFill>
                <a:latin typeface="Source Sans 3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 spc="-30">
                <a:solidFill>
                  <a:srgbClr val="0C1945"/>
                </a:solidFill>
                <a:latin typeface="Lexend"/>
              </a:rPr>
              <a:t>A Four-Phase Delivery Framework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571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2377440"/>
            <a:ext cx="2487853" cy="54864"/>
          </a:xfrm>
          <a:prstGeom prst="rect">
            <a:avLst/>
          </a:prstGeom>
          <a:solidFill>
            <a:srgbClr val="3D5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32304"/>
            <a:ext cx="2487853" cy="2926080"/>
          </a:xfrm>
          <a:prstGeom prst="rect">
            <a:avLst/>
          </a:prstGeom>
          <a:solidFill>
            <a:srgbClr val="E8EC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0306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7D1E0"/>
                </a:solidFill>
                <a:latin typeface="Lexen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03065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 spc="-20">
                <a:solidFill>
                  <a:srgbClr val="0C1945"/>
                </a:solidFill>
                <a:latin typeface="Lexend"/>
              </a:rPr>
              <a:t>Diagnose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203065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Source Sans 3"/>
              </a:rPr>
              <a:t>Assess the current state and isolate root causes.</a:t>
            </a:r>
          </a:p>
        </p:txBody>
      </p:sp>
      <p:sp>
        <p:nvSpPr>
          <p:cNvPr id="10" name="Chevron 9"/>
          <p:cNvSpPr/>
          <p:nvPr/>
        </p:nvSpPr>
        <p:spPr>
          <a:xfrm>
            <a:off x="3187369" y="3813048"/>
            <a:ext cx="201168" cy="365760"/>
          </a:xfrm>
          <a:prstGeom prst="chevron">
            <a:avLst/>
          </a:prstGeom>
          <a:solidFill>
            <a:srgbClr val="8B9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973" y="2377440"/>
            <a:ext cx="2487853" cy="54864"/>
          </a:xfrm>
          <a:prstGeom prst="rect">
            <a:avLst/>
          </a:prstGeom>
          <a:solidFill>
            <a:srgbClr val="3D5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973" y="2432304"/>
            <a:ext cx="2487853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6573" y="2697480"/>
            <a:ext cx="20306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7D1E0"/>
                </a:solidFill>
                <a:latin typeface="Lexen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3429000"/>
            <a:ext cx="203065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 spc="-20">
                <a:solidFill>
                  <a:srgbClr val="0C1945"/>
                </a:solidFill>
                <a:latin typeface="Lexend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573" y="3886200"/>
            <a:ext cx="203065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Source Sans 3"/>
              </a:rPr>
              <a:t>Develop and stress-test the target-state options.</a:t>
            </a:r>
          </a:p>
        </p:txBody>
      </p:sp>
      <p:sp>
        <p:nvSpPr>
          <p:cNvPr id="16" name="Chevron 15"/>
          <p:cNvSpPr/>
          <p:nvPr/>
        </p:nvSpPr>
        <p:spPr>
          <a:xfrm>
            <a:off x="5995263" y="3813048"/>
            <a:ext cx="201168" cy="365760"/>
          </a:xfrm>
          <a:prstGeom prst="chevron">
            <a:avLst/>
          </a:prstGeom>
          <a:solidFill>
            <a:srgbClr val="8B9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2377440"/>
            <a:ext cx="2487853" cy="54864"/>
          </a:xfrm>
          <a:prstGeom prst="rect">
            <a:avLst/>
          </a:prstGeom>
          <a:solidFill>
            <a:srgbClr val="3D5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5867" y="2432304"/>
            <a:ext cx="2487853" cy="2926080"/>
          </a:xfrm>
          <a:prstGeom prst="rect">
            <a:avLst/>
          </a:prstGeom>
          <a:solidFill>
            <a:srgbClr val="E8EC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4467" y="2697480"/>
            <a:ext cx="20306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7D1E0"/>
                </a:solidFill>
                <a:latin typeface="Lexen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4467" y="3429000"/>
            <a:ext cx="203065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 spc="-20">
                <a:solidFill>
                  <a:srgbClr val="0C1945"/>
                </a:solidFill>
                <a:latin typeface="Lexend"/>
              </a:rPr>
              <a:t>Mobilize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4467" y="3886200"/>
            <a:ext cx="203065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Source Sans 3"/>
              </a:rPr>
              <a:t>Sequence the plan and align the delivery team.</a:t>
            </a:r>
          </a:p>
        </p:txBody>
      </p:sp>
      <p:sp>
        <p:nvSpPr>
          <p:cNvPr id="22" name="Chevron 21"/>
          <p:cNvSpPr/>
          <p:nvPr/>
        </p:nvSpPr>
        <p:spPr>
          <a:xfrm>
            <a:off x="8803157" y="3813048"/>
            <a:ext cx="201168" cy="365760"/>
          </a:xfrm>
          <a:prstGeom prst="chevron">
            <a:avLst/>
          </a:prstGeom>
          <a:solidFill>
            <a:srgbClr val="8B9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3761" y="2377440"/>
            <a:ext cx="2487853" cy="54864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3761" y="2432304"/>
            <a:ext cx="2487853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2361" y="2697480"/>
            <a:ext cx="20306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7D1E0"/>
                </a:solidFill>
                <a:latin typeface="Lexen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2361" y="3429000"/>
            <a:ext cx="203065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 spc="-20">
                <a:solidFill>
                  <a:srgbClr val="0C1945"/>
                </a:solidFill>
                <a:latin typeface="Lexend"/>
              </a:rPr>
              <a:t>Deliver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361" y="3886200"/>
            <a:ext cx="203065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4155"/>
                </a:solidFill>
                <a:latin typeface="Source Sans 3"/>
              </a:rPr>
              <a:t>Execute, track value, and course-correct fast.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>
                <a:solidFill>
                  <a:srgbClr val="8B97B5"/>
                </a:solidFill>
                <a:latin typeface="Lexend"/>
              </a:rPr>
              <a:t>NORTHGATE.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2881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8B97B5"/>
                </a:solidFill>
                <a:latin typeface="Source Sans 3"/>
              </a:rPr>
              <a:t>Northgate Consulting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60">
                <a:solidFill>
                  <a:srgbClr val="8B97B5"/>
                </a:solidFill>
                <a:latin typeface="Source Sans 3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103120"/>
            <a:ext cx="6400800" cy="6400800"/>
          </a:xfrm>
          <a:prstGeom prst="ellipse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0" y="3474720"/>
            <a:ext cx="6858000" cy="6858000"/>
          </a:xfrm>
          <a:prstGeom prst="ellipse">
            <a:avLst/>
          </a:prstGeom>
          <a:solidFill>
            <a:srgbClr val="11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16255E"/>
                </a:solidFill>
                <a:latin typeface="Lexend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96012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 spc="-30">
                <a:solidFill>
                  <a:srgbClr val="FFFFFF"/>
                </a:solidFill>
                <a:latin typeface="Lexend"/>
              </a:rPr>
              <a:t>Replace this with the single most credible line from a client, executive sponsor, or the engagement itself — short enough to read at a glance.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709160"/>
            <a:ext cx="502920" cy="0"/>
          </a:xfrm>
          <a:prstGeom prst="line">
            <a:avLst/>
          </a:prstGeom>
          <a:ln w="5080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4892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ource Sans 3"/>
              </a:rPr>
              <a:t>Full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3036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97B5"/>
                </a:solidFill>
                <a:latin typeface="Source Sans 3"/>
              </a:rPr>
              <a:t>Title, 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"/>
            <a:ext cx="3657600" cy="2688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39" b="1" i="0" spc="-40">
                <a:solidFill>
                  <a:srgbClr val="FFFFFF"/>
                </a:solidFill>
                <a:latin typeface="Lexend"/>
              </a:rPr>
              <a:t>Northgate</a:t>
            </a:r>
            <a:r>
              <a:rPr sz="1724" b="1" i="0">
                <a:solidFill>
                  <a:srgbClr val="05AFF2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58951"/>
            <a:ext cx="3657600" cy="1408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94" b="0" i="0" spc="220">
                <a:solidFill>
                  <a:srgbClr val="8C93AC"/>
                </a:solidFill>
                <a:latin typeface="Consolas"/>
              </a:rPr>
              <a:t>CONSULTING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60">
                <a:solidFill>
                  <a:srgbClr val="05AFF2"/>
                </a:solidFill>
                <a:latin typeface="Source Sans 3"/>
              </a:rPr>
              <a:t>ENGAGEMENT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 spc="-30">
                <a:solidFill>
                  <a:srgbClr val="0C1945"/>
                </a:solidFill>
                <a:latin typeface="Lexend"/>
              </a:rPr>
              <a:t>Who You'll Be Working With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571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272501" y="2103120"/>
            <a:ext cx="1188720" cy="1188720"/>
          </a:xfrm>
          <a:prstGeom prst="ellipse">
            <a:avLst/>
          </a:prstGeom>
          <a:solidFill>
            <a:srgbClr val="E8EC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2453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3D5AD9"/>
                </a:solidFill>
                <a:latin typeface="Lexend"/>
              </a:rPr>
              <a:t>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24535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C1945"/>
                </a:solidFill>
                <a:latin typeface="Lexend"/>
              </a:rPr>
              <a:t>Full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Source Sans 3"/>
              </a:rPr>
              <a:t>Engagement Lead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83981.875" y="4206240"/>
            <a:ext cx="365760.0" cy="0"/>
          </a:xfrm>
          <a:prstGeom prst="line">
            <a:avLst/>
          </a:prstGeom>
          <a:ln w="317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245356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8B97B5"/>
                </a:solidFill>
                <a:latin typeface="Source Sans 3"/>
              </a:rPr>
              <a:t>One line on relevant experience or focus area.</a:t>
            </a:r>
          </a:p>
        </p:txBody>
      </p:sp>
      <p:sp>
        <p:nvSpPr>
          <p:cNvPr id="11" name="Oval 10"/>
          <p:cNvSpPr/>
          <p:nvPr/>
        </p:nvSpPr>
        <p:spPr>
          <a:xfrm>
            <a:off x="4091825" y="2103120"/>
            <a:ext cx="1188720" cy="1188720"/>
          </a:xfrm>
          <a:prstGeom prst="ellipse">
            <a:avLst/>
          </a:prstGeom>
          <a:solidFill>
            <a:srgbClr val="E8EC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487168"/>
            <a:ext cx="2453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3D5AD9"/>
                </a:solidFill>
                <a:latin typeface="Lexend"/>
              </a:rPr>
              <a:t>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520440"/>
            <a:ext cx="24535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C1945"/>
                </a:solidFill>
                <a:latin typeface="Lexend"/>
              </a:rPr>
              <a:t>Full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840480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Source Sans 3"/>
              </a:rPr>
              <a:t>Workstream Lead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03305.625" y="4206240"/>
            <a:ext cx="365760.0" cy="0"/>
          </a:xfrm>
          <a:prstGeom prst="line">
            <a:avLst/>
          </a:prstGeom>
          <a:ln w="317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59403" y="4389120"/>
            <a:ext cx="245356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8B97B5"/>
                </a:solidFill>
                <a:latin typeface="Source Sans 3"/>
              </a:rPr>
              <a:t>One line on relevant experience or focus area.</a:t>
            </a:r>
          </a:p>
        </p:txBody>
      </p:sp>
      <p:sp>
        <p:nvSpPr>
          <p:cNvPr id="17" name="Oval 16"/>
          <p:cNvSpPr/>
          <p:nvPr/>
        </p:nvSpPr>
        <p:spPr>
          <a:xfrm>
            <a:off x="6911149" y="2103120"/>
            <a:ext cx="1188720" cy="1188720"/>
          </a:xfrm>
          <a:prstGeom prst="ellipse">
            <a:avLst/>
          </a:prstGeom>
          <a:solidFill>
            <a:srgbClr val="E8EC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2487168"/>
            <a:ext cx="2453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3D5AD9"/>
                </a:solidFill>
                <a:latin typeface="Lexend"/>
              </a:rPr>
              <a:t>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520440"/>
            <a:ext cx="24535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C1945"/>
                </a:solidFill>
                <a:latin typeface="Lexend"/>
              </a:rPr>
              <a:t>Full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840480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Source Sans 3"/>
              </a:rPr>
              <a:t>Workstream Lead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22629.375" y="4206240"/>
            <a:ext cx="365760.0" cy="0"/>
          </a:xfrm>
          <a:prstGeom prst="line">
            <a:avLst/>
          </a:prstGeom>
          <a:ln w="317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78727" y="4389120"/>
            <a:ext cx="245356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8B97B5"/>
                </a:solidFill>
                <a:latin typeface="Source Sans 3"/>
              </a:rPr>
              <a:t>One line on relevant experience or focus area.</a:t>
            </a:r>
          </a:p>
        </p:txBody>
      </p:sp>
      <p:sp>
        <p:nvSpPr>
          <p:cNvPr id="23" name="Oval 22"/>
          <p:cNvSpPr/>
          <p:nvPr/>
        </p:nvSpPr>
        <p:spPr>
          <a:xfrm>
            <a:off x="9730473" y="2103120"/>
            <a:ext cx="1188720" cy="1188720"/>
          </a:xfrm>
          <a:prstGeom prst="ellipse">
            <a:avLst/>
          </a:prstGeom>
          <a:solidFill>
            <a:srgbClr val="E8EC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051" y="2487168"/>
            <a:ext cx="2453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3D5AD9"/>
                </a:solidFill>
                <a:latin typeface="Lexend"/>
              </a:rPr>
              <a:t>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051" y="3520440"/>
            <a:ext cx="24535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C1945"/>
                </a:solidFill>
                <a:latin typeface="Lexend"/>
              </a:rPr>
              <a:t>Full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051" y="3840480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Source Sans 3"/>
              </a:rPr>
              <a:t>Analyst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141953.125" y="4206240"/>
            <a:ext cx="365760.0" cy="0"/>
          </a:xfrm>
          <a:prstGeom prst="line">
            <a:avLst/>
          </a:prstGeom>
          <a:ln w="317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098051" y="4389120"/>
            <a:ext cx="245356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8B97B5"/>
                </a:solidFill>
                <a:latin typeface="Source Sans 3"/>
              </a:rPr>
              <a:t>One line on relevant experience or focus area.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>
                <a:solidFill>
                  <a:srgbClr val="8B97B5"/>
                </a:solidFill>
                <a:latin typeface="Lexend"/>
              </a:rPr>
              <a:t>NORTHGATE.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2881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8B97B5"/>
                </a:solidFill>
                <a:latin typeface="Source Sans 3"/>
              </a:rPr>
              <a:t>Northgate Consulting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60">
                <a:solidFill>
                  <a:srgbClr val="8B97B5"/>
                </a:solidFill>
                <a:latin typeface="Source Sans 3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60">
                <a:solidFill>
                  <a:srgbClr val="05AFF2"/>
                </a:solidFill>
                <a:latin typeface="Source Sans 3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 spc="-30">
                <a:solidFill>
                  <a:srgbClr val="0C1945"/>
                </a:solidFill>
                <a:latin typeface="Lexend"/>
              </a:rPr>
              <a:t>Delivery Timeline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5715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3749039"/>
            <a:ext cx="10911535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903437" y="3648455"/>
            <a:ext cx="201168" cy="201168"/>
          </a:xfrm>
          <a:prstGeom prst="ellipse">
            <a:avLst/>
          </a:prstGeom>
          <a:solidFill>
            <a:srgbClr val="05AFF2"/>
          </a:solidFill>
          <a:ln w="22225">
            <a:solidFill>
              <a:srgbClr val="05A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181" y="2697479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0C1945"/>
                </a:solidFill>
                <a:latin typeface="Lexend"/>
              </a:rPr>
              <a:t>Kickoff &amp; Diagnose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181" y="32461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20">
                <a:solidFill>
                  <a:srgbClr val="3D5AD9"/>
                </a:solidFill>
                <a:latin typeface="Source Sans 3"/>
              </a:rPr>
              <a:t>WK 1-2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04021.875" y="3081527"/>
            <a:ext cx="0.0" cy="4572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631321" y="3648455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B9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6065" y="4069079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0C1945"/>
                </a:solidFill>
                <a:latin typeface="Lexend"/>
              </a:rPr>
              <a:t>Design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6065" y="46177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20">
                <a:solidFill>
                  <a:srgbClr val="3D5AD9"/>
                </a:solidFill>
                <a:latin typeface="Source Sans 3"/>
              </a:rPr>
              <a:t>WK 3-5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31905.625" y="3291839"/>
            <a:ext cx="0.0" cy="4572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359205" y="3648455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B9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3949" y="2697479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0C1945"/>
                </a:solidFill>
                <a:latin typeface="Lexend"/>
              </a:rPr>
              <a:t>Align &amp; Mobilize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3949" y="32461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20">
                <a:solidFill>
                  <a:srgbClr val="3D5AD9"/>
                </a:solidFill>
                <a:latin typeface="Source Sans 3"/>
              </a:rPr>
              <a:t>WK 6-7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59789.375" y="3081527"/>
            <a:ext cx="0.0" cy="4572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087089" y="3648455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B9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1833" y="4069079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0C1945"/>
                </a:solidFill>
                <a:latin typeface="Lexend"/>
              </a:rPr>
              <a:t>Delivery &amp;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1833" y="46177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20">
                <a:solidFill>
                  <a:srgbClr val="3D5AD9"/>
                </a:solidFill>
                <a:latin typeface="Source Sans 3"/>
              </a:rPr>
              <a:t>WK 8-12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87673.125" y="3291839"/>
            <a:ext cx="0.0" cy="4572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>
                <a:solidFill>
                  <a:srgbClr val="8B97B5"/>
                </a:solidFill>
                <a:latin typeface="Lexend"/>
              </a:rPr>
              <a:t>NORTHGATE.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8B97B5"/>
                </a:solidFill>
                <a:latin typeface="Source Sans 3"/>
              </a:rPr>
              <a:t>Northgate Consulting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60">
                <a:solidFill>
                  <a:srgbClr val="8B97B5"/>
                </a:solidFill>
                <a:latin typeface="Source Sans 3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103120"/>
            <a:ext cx="6400800" cy="6400800"/>
          </a:xfrm>
          <a:prstGeom prst="ellipse">
            <a:avLst/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0" y="3474720"/>
            <a:ext cx="6858000" cy="6858000"/>
          </a:xfrm>
          <a:prstGeom prst="ellipse">
            <a:avLst/>
          </a:prstGeom>
          <a:solidFill>
            <a:srgbClr val="11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3657600" cy="614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20" b="1" i="0" spc="-40">
                <a:solidFill>
                  <a:srgbClr val="FFFFFF"/>
                </a:solidFill>
                <a:latin typeface="Lexend"/>
              </a:rPr>
              <a:t>Northgate</a:t>
            </a:r>
            <a:r>
              <a:rPr sz="3942" b="1" i="0">
                <a:solidFill>
                  <a:srgbClr val="05AFF2"/>
                </a:solidFill>
                <a:latin typeface="Lexen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71216"/>
            <a:ext cx="3657600" cy="32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60" b="0" i="0" spc="220">
                <a:solidFill>
                  <a:srgbClr val="8C93AC"/>
                </a:solidFill>
                <a:latin typeface="Consolas"/>
              </a:rPr>
              <a:t>CONSULTING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429000"/>
            <a:ext cx="502920" cy="0"/>
          </a:xfrm>
          <a:prstGeom prst="line">
            <a:avLst/>
          </a:prstGeom>
          <a:ln w="63500">
            <a:solidFill>
              <a:srgbClr val="05A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6118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 spc="-40">
                <a:solidFill>
                  <a:srgbClr val="FFFFFF"/>
                </a:solidFill>
                <a:latin typeface="Lexend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60">
                <a:solidFill>
                  <a:srgbClr val="8B97B5"/>
                </a:solidFill>
                <a:latin typeface="Source Sans 3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ource Sans 3"/>
              </a:rPr>
              <a:t>Full Name,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46634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60">
                <a:solidFill>
                  <a:srgbClr val="8B97B5"/>
                </a:solidFill>
                <a:latin typeface="Source Sans 3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9377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ource Sans 3"/>
              </a:rPr>
              <a:t>name@northgateconsulting.com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6634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60">
                <a:solidFill>
                  <a:srgbClr val="8B97B5"/>
                </a:solidFill>
                <a:latin typeface="Source Sans 3"/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9377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ource Sans 3"/>
              </a:rPr>
              <a:t>northgateconsulting.com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68C"/>
                </a:solidFill>
                <a:latin typeface="Source Sans 3"/>
              </a:rPr>
              <a:t>Strictly Private &amp; Confidential — Northgate Consulting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